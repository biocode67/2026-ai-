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FB3EE"/>
                </a:solidFill>
                <a:latin typeface="Segoe UI"/>
                <a:ea typeface="맑은 고딕"/>
                <a:cs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Segoe UI"/>
                <a:ea typeface="맑은 고딕"/>
                <a:cs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894A6"/>
                </a:solidFill>
                <a:latin typeface="Segoe UI"/>
                <a:ea typeface="맑은 고딕"/>
                <a:cs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AEEF4"/>
                </a:solidFill>
                <a:latin typeface="Segoe UI"/>
                <a:ea typeface="맑은 고딕"/>
                <a:cs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AEEF4"/>
                </a:solidFill>
                <a:latin typeface="Segoe UI"/>
                <a:ea typeface="맑은 고딕"/>
                <a:cs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Segoe UI"/>
                <a:ea typeface="맑은 고딕"/>
                <a:cs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Segoe UI"/>
                <a:ea typeface="맑은 고딕"/>
                <a:cs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Segoe UI"/>
                <a:ea typeface="맑은 고딕"/>
                <a:cs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Segoe UI"/>
                <a:ea typeface="맑은 고딕"/>
                <a:cs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Segoe UI"/>
                <a:ea typeface="맑은 고딕"/>
                <a:cs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Segoe UI"/>
                <a:ea typeface="맑은 고딕"/>
                <a:cs typeface="맑은 고딕"/>
              </a:rPr>
              <a:t>25개 생활권 · 지표 12종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Segoe UI"/>
                <a:ea typeface="맑은 고딕"/>
                <a:cs typeface="맑은 고딕"/>
              </a:rPr>
              <a:t>○○팀 · 홍길동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447" y="61447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FAB219"/>
                </a:solidFill>
                <a:latin typeface="Segoe UI"/>
                <a:ea typeface="맑은 고딕"/>
                <a:cs typeface="맑은 고딕"/>
              </a:rPr>
              <a:t>※ 일부 지표 예시 데이터 — 실데이터 재실행 후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격차 배율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1.74배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신도심 76.4 vs 원도심 44.0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0.318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69%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베이스라인 대비 MAE +5.3%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32,822명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12개소 · 커버리지 +7.0%p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어느 동네가 어려워질지 미리 살펴본 뒤,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75887"/>
            <a:ext cx="355701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생활권별 지수와 유형, 3년 뒤 전망과 그 이유, 12개소 우선순위표입니다.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1.74배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신도심 평균 CBI 76.4 vs 원도심 평균 44.0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0.318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25개 생활권 CBI 지니계수 — 변동계수 56.5%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불당동 ↔ 수신면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최상위 82점 ↔ 최하위 6점,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0개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여러 지표가 함께 낮은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87121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871216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변화는 서서히, 그러나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145536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상권이 비면 오가는 분이 줄고, 그래서 더 비는 흐름이 생깁니다.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많이 진행된 뒤에 쓰는 예산은 같은 금액으로도 효과가 적습니다.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412563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4125630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4399950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통계가 뚜렷하게 나빠졌을 때는 이미 상당히 진행된 뒤인 경우가 많습니다.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미리 알아차릴 신호가 하나쯤 더 있으면 좋겠다는 생각에서 출발했습니다.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538004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5380045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천안시는 이런 관찰에 좋은 조건을 갖췄습니다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5654365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신도심·기성시가지·원도심·읍·농촌면이 한 시(市) 안에 모두 있어,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동네 유형별로 무엇이 필요한지 함께 살펴볼 수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12개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64515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데이터는 현장의 경험을 대신할 수 없습니다. 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029200"/>
            <a:ext cx="104241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공공데이터 입력부터 정책 산출물까지 단일 스크립트로 연결된다.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Segoe UI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Segoe UI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Segoe UI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Segoe UI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21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16"/>
                <a:gridCol w="1472650"/>
                <a:gridCol w="1699212"/>
                <a:gridCol w="2945301"/>
                <a:gridCol w="2492178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출처 URL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주민등록 인구통계(연령별)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행정구역, 총인구수,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인구증감률·청년비율·고령비율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지방행정 인허가데이터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localdata.go.kr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인허가일자, 폐업일자, 영업상태명, 소재지주소, 업태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상권 순증감·폐업률·업종다양성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소상공인 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상권업종분류, 행정동명,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사업체밀도·생활편의시설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생활SOC 표준데이터 6종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시설명, 소재지주소,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생활SOC 접근성·인구당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빈집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통계청 / 한국부동산원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kosis.kr / emptyhomes.kr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시군구, 빈집수, 빈집사유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버스정류소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천안시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cheonan.go.kr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정류소명, 소재지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정류장 밀도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43984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수집 시점 및 데이터 상태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754880"/>
          <a:ext cx="10874956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66"/>
                <a:gridCol w="1536678"/>
                <a:gridCol w="4019006"/>
                <a:gridCol w="4019006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예시 생성(seed=20260832)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data/raw/localdata_license*.csv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예시 생성(seed=20260833)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data/raw/facility_*.csv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예시 생성(seed=20260834)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data/raw/vacant_house.csv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예시 생성(seed=20260836)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data/raw/bus_stop.csv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왜 이 단계가 중요한가 — 생태학적 오류(ecological fallacy)의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신안동, 성정동, 쌍용동, 청룡동, 신방동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풍세면, 병천면, 입장면, 성남면, 북면, 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신도심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불당동, 부성동, 백석동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원도심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문성동, 일봉동, 봉명동, 원성동, 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읍지역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직산읍, 목천읍, 성거읍, 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가중치를 연구자가 정하지 않는다. 데이터의 변별력에서 가중치를 유도한다.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5대 도메인 · 12개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706624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5년 인구증감률 · 청년비율 · 고령비율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경제활력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3273552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인구천명당 사업체수 · 상권 순증감 · 폐업률 · 업종 다양성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3840480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생활SOC 접근성(중력모형) · 인구천명당 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4407407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이동성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4974336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km²당 버스정류장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712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pⱼ = zⱼ / Σzⱼ    eⱼ = −k·Σ pⱼ ln pⱼ    wⱼ ∝ (1 − eⱼ)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40156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생활권 간 차이를 잘 벌리는 지표일수록(=엔트로피가 낮을수록) 큰 가중치를 받는다.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· 전문가 설문·AHP 방식과 달리 사람이 개입하지 않아 누가 돌려도 같은 값이 나온다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· 지표가 추가·제외돼도 가중치가 자동 재배분되어 지수가 계속 유효하다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· 심사·감사 과정에서 '왜 이 가중치인가'를 수식 한 줄로 답할 수 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7900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정직성 장치 — 데이터가 없어 산출 불가한 지표는 임의값으로 채우지 않고 지수에서 제외하며,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제외 사실을 로그와 산출물에 남긴다. 결측을 평균으로 메워 순위를 왜곡하는 흔한 실수를 구조적으로 막는다.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진단 결과 — 25개 생활권 CBI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최상위 불당동 82점, 최하위 수신면 6점. 같은 시(市) 안의 격차다.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115" y="2084831"/>
            <a:ext cx="4353305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신도심 ↔ 원도심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1.74배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76.4 vs 44.0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0.318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변동계수 56.5%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3개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실루엣 계수 0.322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5332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쇠퇴단계는 CBI 순위가 아니라 다차원 패턴으로 분류된다.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원도심과 농촌면은 지수가 모두 낮게 나왔습니다. 그런데 항목을 나눠 보니 사정이 서로 달랐습니다.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4" y="2157984"/>
            <a:ext cx="4966507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EFF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시설은 이미 갖춰져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어려운 쪽은 상권과 인구였습니다.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→ 새로 짓기보다,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1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A3AA7"/>
                </a:solidFill>
                <a:latin typeface="Segoe UI"/>
                <a:ea typeface="맑은 고딕"/>
                <a:cs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가까운 시설 자체가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대중교통 여건도 넉넉하지 않습니다.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→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격차는 수렴하지 않고 벌어지고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권역유형별 인구·사업체 궤적이 시간이 갈수록 분기한다. 개입하지 않으면 자동으로 좁혀지지 않는다.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407" y="2286000"/>
            <a:ext cx="7040880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486400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6509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5년 인구증감률 상위는 12(+158%), 3(+81%)으로, 두 곳 모두 신축 입주가 이어진 지역입니다. 원도심에 속한 문성동도 사람이 돌아왔습니다.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비어 있던 공간이 다시 주거로 쓰이면 인구가 회복될 수 있다는 뜻으로 읽었고, 뒤에서 말씀드릴 빈집 활용 제안의 근거가 되었습니다.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69%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9.85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+5.3%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-0.02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5193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베이스라인은 '지금과 달라지지 않는다(Δ=0)'는 예측입니다.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지금은 방향을 주로 맞히는 수준이며, 변화의 크기까지는 아직입니다(R²가 낮은 이유).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대각선 위쪽은 현재보다 위험이 더 올라갈 것으로 예측된 생활권이다.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048" y="2103120"/>
            <a:ext cx="4719279" cy="3977639"/>
          </a:xfrm>
          <a:prstGeom prst="rect">
            <a:avLst/>
          </a:prstGeom>
        </p:spPr>
      </p:pic>
      <p:pic>
        <p:nvPicPr>
          <p:cNvPr id="6" name="Picture 5" descr="05_SHAP_요인분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3512" y="2103120"/>
            <a:ext cx="557459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1888" y="4956048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3년 뒤 위험 상위 5개 생활권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61888" y="5248656"/>
          <a:ext cx="5577837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732"/>
                <a:gridCol w="1154035"/>
                <a:gridCol w="1154035"/>
                <a:gridCol w="1154035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MCLP — 최대커버링 입지문제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3347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max  Σ  dᵢ · yᵢ      s.t.  yᵢ ≤ Σ xⱼ ,  Σ xⱼ = p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        i∈수요격자                    j∈Nᵢ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1868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21868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수요 dᵢ — 취약가중 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49300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격자 인구에 고령화율과 CBI 열위를 가중한다. 같은 1명이라도 취약지역의 1명을 더 크게 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736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0736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커버 Nᵢ — 반경 1.0km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8168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도보 15분권. '15분 도시' 개념과 맞추고 행정경계를 넘는 이용도 반영한다.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960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960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후보지 xⱼ — 빈집·노후 밀집 격자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07036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새 땅을 사는 대신 이미 비어 있는 공간을 후보로 둔다. 도시재생 사업과 바로 접속된다.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8472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58472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탐욕 근사의 보장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85904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submodular 목적함수이므로 탐욕해가 최적해의 (1−1/e)≈63% 이상을 보장한다.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형평성 제약을 넣은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결과는 '순위 · 생활권 · 시설유형 · 새로 닿는 인구 · 개선폭'이 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검토 자료로 참고하실 수 있으면 좋겠습니다.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상위 12개소 우선 투자 시 취약수요 커버리지 +7.0%p, 신규 수혜인구 약 32,822명.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400" y="2212848"/>
            <a:ext cx="4444255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7,740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+1.3%p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4,078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+1.3%p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6,645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+0.82%p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1,689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+0.59%p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4,415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+0.53%p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1,501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+0.41%p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763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+0.37%p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풍세면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1,003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+0.36%p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1,626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+0.35%p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1,177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+0.35%p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어디서 멈춰도 근거가 남는다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한계효용 체감 곡선이 있으면 예산이 깎여도 '몇 개소까지가 합리적인가'를 답할 수 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07" y="2212848"/>
            <a:ext cx="3870601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2265192"/>
            <a:ext cx="4023360" cy="309571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실무적 가치 — 예산 심의에서 가장 자주 나오는 질문은 '이걸 왜 이 순서로 하느냐'와 '반만 하면 어떻게 되느냐'다.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이 곡선은 두 질문에 동시에 답한다. 좌측 그림의 좌상단 영역(고령↑·SOC↓)이 최우선 사각지대다.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24 일대는 젊은 이웃이 하나둘 떠나고 상가도 비었습니다.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가게와 병원이 멀어질수록, 걸어서 하실 수 있는 일이 줄어듭니다.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Segoe UI"/>
                <a:ea typeface="맑은 고딕"/>
                <a:cs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고령 비율이 가장 높은 곳은 22으로 54%였습니다.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EDA100"/>
                </a:solidFill>
                <a:latin typeface="Segoe UI"/>
                <a:ea typeface="맑은 고딕"/>
                <a:cs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Segoe UI"/>
                <a:ea typeface="맑은 고딕"/>
                <a:cs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A3AA7"/>
                </a:solidFill>
                <a:latin typeface="Segoe UI"/>
                <a:ea typeface="맑은 고딕"/>
                <a:cs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Segoe UI"/>
                <a:ea typeface="맑은 고딕"/>
                <a:cs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Segoe UI"/>
                <a:ea typeface="맑은 고딕"/>
                <a:cs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Segoe UI"/>
                <a:ea typeface="맑은 고딕"/>
                <a:cs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Segoe UI"/>
                <a:ea typeface="맑은 고딕"/>
                <a:cs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Segoe UI"/>
                <a:ea typeface="맑은 고딕"/>
                <a:cs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전 과정이 공개 스크립트로 실행 — `python3 src/run_all.py`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난수 시드 고정(20260831) — 군집·모델 결과가 실행마다 동일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그림 8종·분석표 9종·대시보드가 같은 실행에서 함께 생성됨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지표 정의·가중치·모델 파라미터가 전부 코드에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정식 공공데이터 포털에서 내려받은 파일만 사용 — 크롤링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상업 목적 민간데이터 무단 사용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전 지표가 생활권 단위 집계값 — 개인식별정보 미취급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출처·수집시점·컬럼을 `00_데이터_출처.csv` 에 자동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09744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501091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03B3B"/>
                </a:solidFill>
                <a:latin typeface="Segoe UI"/>
                <a:ea typeface="맑은 고딕"/>
                <a:cs typeface="맑은 고딕"/>
              </a:rPr>
              <a:t>실데이터 / 예시데이터 구분 장치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34009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파이프라인은 각 지표가 실데이터인지 예시(illustrative) 값인지를 매 실행마다 판정해 로그·대시보드·본 기획서에 표기한다.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예시 데이터를 실측치로 오인해 제출하는 사고를 막기 위한 장치이며, 실데이터를 넣으면 해당 표기가 자동으로 사라진다.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03B3B"/>
                </a:solidFill>
                <a:latin typeface="Segoe UI"/>
                <a:ea typeface="맑은 고딕"/>
                <a:cs typeface="맑은 고딕"/>
              </a:rPr>
              <a:t>현재 상태: 실데이터 지표 1/5  ·  제출 전 실데이터 투입 후 재실행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