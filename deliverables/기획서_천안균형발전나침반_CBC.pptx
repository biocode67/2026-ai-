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1560" y="14173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E08A8A"/>
                </a:solidFill>
                <a:latin typeface="맑은 고딕"/>
              </a:rPr>
              <a:t>2026년 천안시 AI·데이터 기반 정책 아이디어 경진대회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901952"/>
            <a:ext cx="102412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400" b="1">
                <a:solidFill>
                  <a:srgbClr val="FFFFFF"/>
                </a:solidFill>
                <a:latin typeface="맑은 고딕"/>
              </a:rPr>
              <a:t>천안 균형발전 나침반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852928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>
                <a:solidFill>
                  <a:srgbClr val="8A97A8"/>
                </a:solidFill>
                <a:latin typeface="맑은 고딕"/>
              </a:rPr>
              <a:t>Cheonan Balance Compass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" y="3520440"/>
            <a:ext cx="5120640" cy="41148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51560" y="3767328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300" b="1">
                <a:solidFill>
                  <a:srgbClr val="E9EDF2"/>
                </a:solidFill>
                <a:latin typeface="맑은 고딕"/>
              </a:rPr>
              <a:t>천안시민 누구나 걸어서 닿는 생활환경을 바라며,</a:t>
            </a:r>
          </a:p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2300" b="1">
                <a:solidFill>
                  <a:srgbClr val="E9EDF2"/>
                </a:solidFill>
                <a:latin typeface="맑은 고딕"/>
              </a:rPr>
              <a:t>공공데이터로 먼저 살펴본 균형발전 이야기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23036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6E7B8C"/>
                </a:solidFill>
                <a:latin typeface="맑은 고딕"/>
              </a:rPr>
              <a:t>지정과제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4864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</a:rPr>
              <a:t>③ 지역균형발전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79" y="523036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6E7B8C"/>
                </a:solidFill>
                <a:latin typeface="맑은 고딕"/>
              </a:rPr>
              <a:t>응모분야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79" y="54864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</a:rPr>
              <a:t>AI 모델 개발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523036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6E7B8C"/>
                </a:solidFill>
                <a:latin typeface="맑은 고딕"/>
              </a:rPr>
              <a:t>분석단위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54864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</a:rPr>
              <a:t>25개 생활권 · 지표 11종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614476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8A97A8"/>
                </a:solidFill>
                <a:latin typeface="맑은 고딕"/>
              </a:rPr>
              <a:t>○○팀 · 홍길동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78447" y="6144768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1">
                <a:solidFill>
                  <a:srgbClr val="C98A1E"/>
                </a:solidFill>
                <a:latin typeface="맑은 고딕"/>
              </a:rPr>
              <a:t>※ 일부 지표 예시 데이터 — 실데이터 재실행 후 제출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한 장으로 보는 제안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천안시민의 생활여건 차이를 데이터로 살펴보고, 도움이 조금 더 필요한 곳을 먼저 찾아보고자 준비했습니다.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066543"/>
            <a:ext cx="68580" cy="1280160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D6874"/>
                </a:solidFill>
                <a:latin typeface="맑은 고딕"/>
              </a:rPr>
              <a:t>격차 배율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51C26"/>
                </a:solidFill>
                <a:latin typeface="맑은 고딕"/>
              </a:rPr>
              <a:t>1.79배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D6874"/>
                </a:solidFill>
                <a:latin typeface="맑은 고딕"/>
              </a:rPr>
              <a:t>신도심 84.2 vs 원도심 47.1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56432" y="2066543"/>
            <a:ext cx="68580" cy="1280160"/>
          </a:xfrm>
          <a:prstGeom prst="rect">
            <a:avLst/>
          </a:prstGeom>
          <a:solidFill>
            <a:srgbClr val="C9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712464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D6874"/>
                </a:solidFill>
                <a:latin typeface="맑은 고딕"/>
              </a:rPr>
              <a:t>불균등도(지니)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12464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51C26"/>
                </a:solidFill>
                <a:latin typeface="맑은 고딕"/>
              </a:rPr>
              <a:t>0.306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2464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D6874"/>
                </a:solidFill>
                <a:latin typeface="맑은 고딕"/>
              </a:rPr>
              <a:t>25개 생활권 CBI 기준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54496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254496" y="2066543"/>
            <a:ext cx="68580" cy="1280160"/>
          </a:xfrm>
          <a:prstGeom prst="rect">
            <a:avLst/>
          </a:prstGeom>
          <a:solidFill>
            <a:srgbClr val="2E7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10528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D6874"/>
                </a:solidFill>
                <a:latin typeface="맑은 고딕"/>
              </a:rPr>
              <a:t>조기경보 정확도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8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51C26"/>
                </a:solidFill>
                <a:latin typeface="맑은 고딕"/>
              </a:rPr>
              <a:t>데이터 대기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528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D6874"/>
                </a:solidFill>
                <a:latin typeface="맑은 고딕"/>
              </a:rPr>
              <a:t>다른 연도 인구 파일 투입 시 활성화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560" y="2066543"/>
            <a:ext cx="2615184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9052560" y="2066543"/>
            <a:ext cx="68580" cy="1280160"/>
          </a:xfrm>
          <a:prstGeom prst="rect">
            <a:avLst/>
          </a:prstGeom>
          <a:solidFill>
            <a:srgbClr val="3E9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08592" y="2212848"/>
            <a:ext cx="2157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D6874"/>
                </a:solidFill>
                <a:latin typeface="맑은 고딕"/>
              </a:rPr>
              <a:t>투자 수혜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08592" y="2450591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151C26"/>
                </a:solidFill>
                <a:latin typeface="맑은 고딕"/>
              </a:rPr>
              <a:t>32,822명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08592" y="2907791"/>
            <a:ext cx="215798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D6874"/>
                </a:solidFill>
                <a:latin typeface="맑은 고딕"/>
              </a:rPr>
              <a:t>12개소 · 커버리지 +7.1%p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675887"/>
            <a:ext cx="3557016" cy="23957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658368" y="3675887"/>
            <a:ext cx="3557016" cy="68580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14400" y="3913632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D64545"/>
                </a:solidFill>
                <a:latin typeface="맑은 고딕"/>
              </a:rPr>
              <a:t>저희가 주목한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4187952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>
                <a:solidFill>
                  <a:srgbClr val="151C26"/>
                </a:solidFill>
                <a:latin typeface="맑은 고딕"/>
              </a:rPr>
              <a:t>한 도시 안에 생긴 생활여건의 차이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791456"/>
            <a:ext cx="3063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서북부 신도심이 커지는 동안 동남부 원도심과 농촌면은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D6874"/>
                </a:solidFill>
                <a:latin typeface="맑은 고딕"/>
              </a:rPr>
              <a:t>반대 방향으로 움직였습니다. 같은 천안시민인데 사시는 곳에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D6874"/>
                </a:solidFill>
                <a:latin typeface="맑은 고딕"/>
              </a:rPr>
              <a:t>따라 일상의 여건이 달라지고 있었습니다.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98264" y="3675887"/>
            <a:ext cx="3557016" cy="23957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4398264" y="3675887"/>
            <a:ext cx="3557016" cy="68580"/>
          </a:xfrm>
          <a:prstGeom prst="rect">
            <a:avLst/>
          </a:prstGeom>
          <a:solidFill>
            <a:srgbClr val="2E7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4654296" y="3913632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2E7DD1"/>
                </a:solidFill>
                <a:latin typeface="맑은 고딕"/>
              </a:rPr>
              <a:t>저희가 준비한 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54296" y="4187952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>
                <a:solidFill>
                  <a:srgbClr val="151C26"/>
                </a:solidFill>
                <a:latin typeface="맑은 고딕"/>
              </a:rPr>
              <a:t>살펴보기 → 미리 알기 → 순서 정하기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54296" y="4791456"/>
            <a:ext cx="3063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공공데이터 12개 지표로 생활권별 여건을 수치화하고,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D6874"/>
                </a:solidFill>
                <a:latin typeface="맑은 고딕"/>
              </a:rPr>
              <a:t>어느 동네가 어려워질지 미리 살펴본 뒤,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D6874"/>
                </a:solidFill>
                <a:latin typeface="맑은 고딕"/>
              </a:rPr>
              <a:t>생활SOC를 어디부터 놓으면 좋을지 순서를 제안드립니다.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38160" y="3675887"/>
            <a:ext cx="3557016" cy="23957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8138160" y="3675887"/>
            <a:ext cx="3557016" cy="68580"/>
          </a:xfrm>
          <a:prstGeom prst="rect">
            <a:avLst/>
          </a:prstGeom>
          <a:solidFill>
            <a:srgbClr val="3E9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394192" y="3913632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3E9B7C"/>
                </a:solidFill>
                <a:latin typeface="맑은 고딕"/>
              </a:rPr>
              <a:t>이렇게 쓰이면 좋겠습니다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94192" y="4187952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>
                <a:solidFill>
                  <a:srgbClr val="151C26"/>
                </a:solidFill>
                <a:latin typeface="맑은 고딕"/>
              </a:rPr>
              <a:t>담당자분께 드리는 근거 자료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4192" y="4791456"/>
            <a:ext cx="3063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생활권별 지수와 유형, 3년 뒤 전망과 그 이유, 12개소 우선순위표입니다.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D6874"/>
                </a:solidFill>
                <a:latin typeface="맑은 고딕"/>
              </a:rPr>
              <a:t>스크립트 한 줄이면 매년 새 데이터로 다시 만드실 수 있습니다.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한 도시 안에 서로 다른 시간이 흐르고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수도권 전철·KTX와 산업단지를 축으로 서북부가 커지는 사이, 동남부 원도심과 농촌면은 반대 방향으로 움직였습니다.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12848"/>
            <a:ext cx="548640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50976" y="2432304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51C26"/>
                </a:solidFill>
                <a:latin typeface="맑은 고딕"/>
              </a:rPr>
              <a:t>공공데이터로 확인한 차이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2852928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D64545"/>
                </a:solidFill>
                <a:latin typeface="맑은 고딕"/>
              </a:rPr>
              <a:t>1.79배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320040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신도심 평균 CBI 84.2 vs 원도심 평균 47.1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3566160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D64545"/>
                </a:solidFill>
                <a:latin typeface="맑은 고딕"/>
              </a:rPr>
              <a:t>0.306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391363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25개 생활권 CBI 지니계수 — 변동계수 54.7%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4279392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D64545"/>
                </a:solidFill>
                <a:latin typeface="맑은 고딕"/>
              </a:rPr>
              <a:t>불당동 ↔ 광덕면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4626864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최상위 96점 ↔ 최하위 8점, 같은 시(市)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4992624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D64545"/>
                </a:solidFill>
                <a:latin typeface="맑은 고딕"/>
              </a:rPr>
              <a:t>0개 생활권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5340096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여러 지표가 함께 낮은 유형으로 분류되었습니다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64807" y="2212848"/>
            <a:ext cx="5074920" cy="356616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739128" y="2432304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51C26"/>
                </a:solidFill>
                <a:latin typeface="맑은 고딕"/>
              </a:rPr>
              <a:t>왜 지금 살펴보면 좋을까요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2871216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D64545"/>
                </a:solidFill>
                <a:latin typeface="맑은 고딕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13448" y="2871216"/>
            <a:ext cx="4251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변화는 서서히, 그러나 되돌리기는 어렵게 옵니다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13448" y="3145536"/>
            <a:ext cx="4251960" cy="8411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상권이 비면 오가는 분이 줄고, 그래서 더 비는 흐름이 생깁니다.</a:t>
            </a:r>
          </a:p>
          <a:p>
            <a:pPr algn="l">
              <a:lnSpc>
                <a:spcPct val="142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많이 진행된 뒤에 쓰는 예산은 같은 금액으로도 효과가 적습니다.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412563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D64545"/>
                </a:solidFill>
                <a:latin typeface="맑은 고딕"/>
              </a:rPr>
              <a:t>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3448" y="4125630"/>
            <a:ext cx="4251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조짐은 눈에 잘 띄지 않습니다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13448" y="4399950"/>
            <a:ext cx="4251960" cy="8411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통계가 뚜렷하게 나빠졌을 때는 이미 상당히 진행된 뒤인 경우가 많습니다.</a:t>
            </a:r>
          </a:p>
          <a:p>
            <a:pPr algn="l">
              <a:lnSpc>
                <a:spcPct val="142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미리 알아차릴 신호가 하나쯤 더 있으면 좋겠다는 생각에서 출발했습니다.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39128" y="5380045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D64545"/>
                </a:solidFill>
                <a:latin typeface="맑은 고딕"/>
              </a:rPr>
              <a:t>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13448" y="5380045"/>
            <a:ext cx="4251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천안시는 이런 관찰에 좋은 조건을 갖췄습니다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13448" y="5654365"/>
            <a:ext cx="4251960" cy="8411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신도심·기성시가지·원도심·읍·농촌면이 한 시(市) 안에 모두 있어,</a:t>
            </a:r>
          </a:p>
          <a:p>
            <a:pPr algn="l">
              <a:lnSpc>
                <a:spcPct val="142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동네 유형별로 무엇이 필요한지 함께 살펴볼 수 있습니다.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OUR ROLE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저희가 조심스럽게 보태고 싶은 부분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이미 잘 해오고 계신 일들 위에, 공공데이터가 거들 수 있는 자리를 찾아보았습니다.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2395728"/>
          <a:ext cx="10874957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4278"/>
                <a:gridCol w="4660696"/>
                <a:gridCol w="4349983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51C26"/>
                          </a:solidFill>
                          <a:latin typeface="맑은 고딕"/>
                        </a:rPr>
                        <a:t>업무 장면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51C26"/>
                          </a:solidFill>
                          <a:latin typeface="맑은 고딕"/>
                        </a:rPr>
                        <a:t>이미 하고 계신 일 (가장 중요한 부분)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51C26"/>
                          </a:solidFill>
                          <a:latin typeface="맑은 고딕"/>
                        </a:rPr>
                        <a:t>데이터가 거들 수 있는 일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51C26"/>
                          </a:solidFill>
                          <a:latin typeface="맑은 고딕"/>
                        </a:rPr>
                        <a:t>사업지 검토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51C26"/>
                          </a:solidFill>
                          <a:latin typeface="맑은 고딕"/>
                        </a:rPr>
                        <a:t>현장을 다니며 쌓은 경험과 주민 의견 청취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51C26"/>
                          </a:solidFill>
                          <a:latin typeface="맑은 고딕"/>
                        </a:rPr>
                        <a:t>11개 지표로 계산한 참고용 수치 한 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51C26"/>
                          </a:solidFill>
                          <a:latin typeface="맑은 고딕"/>
                        </a:rPr>
                        <a:t>살펴보는 시점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51C26"/>
                          </a:solidFill>
                          <a:latin typeface="맑은 고딕"/>
                        </a:rPr>
                        <a:t>민원과 현장 변화를 통한 상황 파악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51C26"/>
                          </a:solidFill>
                          <a:latin typeface="맑은 고딕"/>
                        </a:rPr>
                        <a:t>지표 변화로 미리 살펴보는 3년 뒤 전망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51C26"/>
                          </a:solidFill>
                          <a:latin typeface="맑은 고딕"/>
                        </a:rPr>
                        <a:t>예산 배분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51C26"/>
                          </a:solidFill>
                          <a:latin typeface="맑은 고딕"/>
                        </a:rPr>
                        <a:t>지역 여건과 형평성을 고려한 배분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51C26"/>
                          </a:solidFill>
                          <a:latin typeface="맑은 고딕"/>
                        </a:rPr>
                        <a:t>한 곳 더 지을 때의 효과를 순서대로 계산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51C26"/>
                          </a:solidFill>
                          <a:latin typeface="맑은 고딕"/>
                        </a:rPr>
                        <a:t>선정 사유 설명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51C26"/>
                          </a:solidFill>
                          <a:latin typeface="맑은 고딕"/>
                        </a:rPr>
                        <a:t>사업 필요성에 대한 행정적 판단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51C26"/>
                          </a:solidFill>
                          <a:latin typeface="맑은 고딕"/>
                        </a:rPr>
                        <a:t>판단의 근거 수치를 표로 함께 제시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58368" y="4443984"/>
            <a:ext cx="10874959" cy="1298448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78407" y="4645152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51C26"/>
                </a:solidFill>
                <a:latin typeface="맑은 고딕"/>
              </a:rPr>
              <a:t>데이터는 현장의 경험을 대신할 수 없습니다. 다만 한 번 더 확인해 보는 참고자료는 될 수 있다고 생각합니다.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7" y="5029200"/>
            <a:ext cx="1042416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5D6874"/>
                </a:solidFill>
                <a:latin typeface="맑은 고딕"/>
              </a:rPr>
              <a:t>새로운 데이터를 더 사자는 제안이 아닙니다. 천안시가 이미 쓰실 수 있는 공공데이터만 엮어 세 가지 참고자료를 만들었고,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50" b="0">
                <a:solidFill>
                  <a:srgbClr val="5D6874"/>
                </a:solidFill>
                <a:latin typeface="맑은 고딕"/>
              </a:rPr>
              <a:t>추가 비용이나 시스템 없이 스크립트 한 줄로 매년 갱신하실 수 있게 준비했습니다.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3-엔진 파이프라인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공공데이터 입력부터 정책 산출물까지 단일 스크립트로 연결된다.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432304"/>
            <a:ext cx="2048256" cy="68580"/>
          </a:xfrm>
          <a:prstGeom prst="rect">
            <a:avLst/>
          </a:prstGeom>
          <a:solidFill>
            <a:srgbClr val="5D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7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5D6874"/>
                </a:solidFill>
                <a:latin typeface="맑은 고딕"/>
              </a:rP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51C26"/>
                </a:solidFill>
                <a:latin typeface="맑은 고딕"/>
              </a:rPr>
              <a:t>공공데이터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주민등록 인구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LOCALDATA 인허가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상가정보·생활SOC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빈집·버스정류장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24912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62656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2962656" y="2432304"/>
            <a:ext cx="2048256" cy="68580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45536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D64545"/>
                </a:solidFill>
                <a:latin typeface="맑은 고딕"/>
              </a:rPr>
              <a:t>① DIAGNOSE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45536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51C26"/>
                </a:solidFill>
                <a:latin typeface="맑은 고딕"/>
              </a:rPr>
              <a:t>진단 엔진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45536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엔트로피 가중 CBI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K-means 유형화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5대 도메인 분해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66944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66944" y="2432304"/>
            <a:ext cx="2048256" cy="68580"/>
          </a:xfrm>
          <a:prstGeom prst="rect">
            <a:avLst/>
          </a:prstGeom>
          <a:solidFill>
            <a:srgbClr val="2E7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449824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2E7DD1"/>
                </a:solidFill>
                <a:latin typeface="맑은 고딕"/>
              </a:rPr>
              <a:t>② PREDICT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9824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51C26"/>
                </a:solidFill>
                <a:latin typeface="맑은 고딕"/>
              </a:rPr>
              <a:t>예측 엔진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9824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LightGBM 회귀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Leave-One-Zone-Out CV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SHAP 요인분해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33488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71232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571232" y="2432304"/>
            <a:ext cx="2048256" cy="68580"/>
          </a:xfrm>
          <a:prstGeom prst="rect">
            <a:avLst/>
          </a:prstGeom>
          <a:solidFill>
            <a:srgbClr val="3E9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754112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3E9B7C"/>
                </a:solidFill>
                <a:latin typeface="맑은 고딕"/>
              </a:rPr>
              <a:t>③ PRESCRIBE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54112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51C26"/>
                </a:solidFill>
                <a:latin typeface="맑은 고딕"/>
              </a:rPr>
              <a:t>처방 엔진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4112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MCLP 탐욕 최적화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형평성 제약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한계효용 곡선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37776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</a:rPr>
              <a:t>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875520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9875520" y="2432304"/>
            <a:ext cx="2048256" cy="68580"/>
          </a:xfrm>
          <a:prstGeom prst="rect">
            <a:avLst/>
          </a:prstGeom>
          <a:solidFill>
            <a:srgbClr val="151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0058400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151C26"/>
                </a:solidFill>
                <a:latin typeface="맑은 고딕"/>
              </a:rPr>
              <a:t>OUTPUT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51C26"/>
                </a:solidFill>
                <a:latin typeface="맑은 고딕"/>
              </a:rPr>
              <a:t>정책 산출물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0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생활권 CBI 지도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3년 후 위험 경보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투자 우선순위표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5047488"/>
            <a:ext cx="10874959" cy="86868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78407" y="5248656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250" b="0">
                <a:solidFill>
                  <a:srgbClr val="151C26"/>
                </a:solidFill>
                <a:latin typeface="맑은 고딕"/>
              </a:rPr>
              <a:t>설계 원칙 ① 재현성 — 모든 단계가 공개 스크립트(`python3 src/run_all.py`)로 동일 재현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250" b="0">
                <a:solidFill>
                  <a:srgbClr val="151C26"/>
                </a:solidFill>
                <a:latin typeface="맑은 고딕"/>
              </a:rPr>
              <a:t>설계 원칙 ② 정직성 — 실데이터/예시데이터 상태를 로그·산출물에 항상 표기해 오인 제출을 차단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활용 데이터 명세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전부 정식 공공 포털에서 합법적으로 내려받은 파일이며, 개인식별정보를 포함하지 않는다.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2304288"/>
          <a:ext cx="10874957" cy="21442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5616"/>
                <a:gridCol w="1472650"/>
                <a:gridCol w="1699212"/>
                <a:gridCol w="2945301"/>
                <a:gridCol w="2492178"/>
              </a:tblGrid>
              <a:tr h="30632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51C26"/>
                          </a:solidFill>
                          <a:latin typeface="맑은 고딕"/>
                        </a:rPr>
                        <a:t>데이터셋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51C26"/>
                          </a:solidFill>
                          <a:latin typeface="맑은 고딕"/>
                        </a:rPr>
                        <a:t>제공기관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51C26"/>
                          </a:solidFill>
                          <a:latin typeface="맑은 고딕"/>
                        </a:rPr>
                        <a:t>출처 URL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51C26"/>
                          </a:solidFill>
                          <a:latin typeface="맑은 고딕"/>
                        </a:rPr>
                        <a:t>주요 컬럼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51C26"/>
                          </a:solidFill>
                          <a:latin typeface="맑은 고딕"/>
                        </a:rPr>
                        <a:t>산출 지표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주민등록 인구통계(연령별)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행정안전부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jumin.mois.go.kr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행정구역, 총인구수, 연령대별 인구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인구증감률·청년비율·고령비율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지방행정 인허가데이터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행정안전부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localdata.go.kr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인허가일자, 폐업일자, 영업상태명, 소재지주소, 업태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상권 순증감·폐업률·업종다양성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소상공인 상가(상권)정보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소상공인시장진흥공단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data.go.kr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상권업종분류, 행정동명, 위경도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사업체밀도·생활편의시설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생활SOC 표준데이터 6종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공공데이터포털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data.go.kr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시설명, 소재지주소, 위경도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생활SOC 접근성·인구당 SOC수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빈집 통계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통계청 / 한국부동산원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kosis.kr / emptyhomes.kr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시군구, 빈집수, 빈집사유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빈집률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버스정류소 현황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천안시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cheonan.go.kr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정류소명, 소재지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정류장 밀도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4443984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51C26"/>
                </a:solidFill>
                <a:latin typeface="맑은 고딕"/>
              </a:rPr>
              <a:t>수집 시점 및 데이터 상태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4754880"/>
          <a:ext cx="10874956" cy="1837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0266"/>
                <a:gridCol w="1536678"/>
                <a:gridCol w="4019006"/>
                <a:gridCol w="4019006"/>
              </a:tblGrid>
              <a:tr h="306324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1C26"/>
                          </a:solidFill>
                          <a:latin typeface="맑은 고딕"/>
                        </a:rPr>
                        <a:t>지표군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1C26"/>
                          </a:solidFill>
                          <a:latin typeface="맑은 고딕"/>
                        </a:rPr>
                        <a:t>상태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1C26"/>
                          </a:solidFill>
                          <a:latin typeface="맑은 고딕"/>
                        </a:rPr>
                        <a:t>출처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1C26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인구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실데이터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행안부 주민등록 인구통계(jumin.mois.go.kr)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2026년 단일시점, 25개 생활권, 연령기준 2026년07월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상권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예시(미투입)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예시 생성(seed=20260832)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data/raw/localdata_license*.csv 투입 시 자동 대체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생활SOC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예시(미투입)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예시 생성(seed=20260833)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data/raw/facility_*.csv 투입 시 자동 대체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주거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예시(미투입)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예시 생성(seed=20260834)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data/raw/vacant_house.csv 투입 시 자동 대체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이동성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예시(미투입)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예시 생성(seed=20260836)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data/raw/bus_stop.csv 투입 시 자동 대체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METHOD ·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분석 공간단위를 25개 '생활권'으로 재설계한 이유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데이터마다 공간 키가 달라서 생기는 오차를, 지표를 만들기 전에 먼저 제거했다.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31720"/>
            <a:ext cx="5257800" cy="1572768"/>
          </a:xfrm>
          <a:prstGeom prst="roundRect">
            <a:avLst>
              <a:gd name="adj" fmla="val 6000"/>
            </a:avLst>
          </a:prstGeom>
          <a:solidFill>
            <a:srgbClr val="FD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32688" y="254203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D64545"/>
                </a:solidFill>
                <a:latin typeface="맑은 고딕"/>
              </a:rPr>
              <a:t>문제 — 공간 키 불일치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889504"/>
            <a:ext cx="47548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50" b="0">
                <a:solidFill>
                  <a:srgbClr val="151C26"/>
                </a:solidFill>
                <a:latin typeface="맑은 고딕"/>
              </a:rPr>
              <a:t>· 주민등록 인구통계는 행정동 기준 (성정1동 / 성정2동)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51C26"/>
                </a:solidFill>
                <a:latin typeface="맑은 고딕"/>
              </a:rPr>
              <a:t>· 인허가·상가정보는 주소 문자열 = 법정동 기준 (성정동 하나)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51C26"/>
                </a:solidFill>
                <a:latin typeface="맑은 고딕"/>
              </a:rPr>
              <a:t>· 주소만으로는 성정동 점포를 1동·2동으로 나눌 근거가 없다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6207" y="2331720"/>
            <a:ext cx="5303520" cy="1572768"/>
          </a:xfrm>
          <a:prstGeom prst="roundRect">
            <a:avLst>
              <a:gd name="adj" fmla="val 6000"/>
            </a:avLst>
          </a:prstGeom>
          <a:solidFill>
            <a:srgbClr val="F0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510528" y="254203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3E9B7C"/>
                </a:solidFill>
                <a:latin typeface="맑은 고딕"/>
              </a:rPr>
              <a:t>해결 — 1:1 대응이 되는 수준까지 통합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0528" y="2889504"/>
            <a:ext cx="47548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50" b="0">
                <a:solidFill>
                  <a:srgbClr val="151C26"/>
                </a:solidFill>
                <a:latin typeface="맑은 고딕"/>
              </a:rPr>
              <a:t>· 성정1·2동 → 성정동 / 쌍용1·2·3동 → 쌍용동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51C26"/>
                </a:solidFill>
                <a:latin typeface="맑은 고딕"/>
              </a:rPr>
              <a:t>· 원성1·2동 → 원성동 / 불당1·2동 → 불당동 / 부성1·2동 → 부성동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51C26"/>
                </a:solidFill>
                <a:latin typeface="맑은 고딕"/>
              </a:rPr>
              <a:t>· 결과: 31개 행정동 → 분석 가능한 25개 생활권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1605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51C26"/>
                </a:solidFill>
                <a:latin typeface="맑은 고딕"/>
              </a:rPr>
              <a:t>왜 이 단계가 중요한가 — 생태학적 오류(ecological fallacy)의 사전 차단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498848"/>
            <a:ext cx="10874959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5D6874"/>
                </a:solidFill>
                <a:latin typeface="맑은 고딕"/>
              </a:rPr>
              <a:t>공간 키가 다른 데이터를 억지로 맞추려면 인구 비례 안분 같은 가정이 필요한데, 그 가정이 틀리면 지표 전체가 조용히 오염된다.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5D6874"/>
                </a:solidFill>
                <a:latin typeface="맑은 고딕"/>
              </a:rPr>
              <a:t>격차 분석은 '어느 동이 더 나쁜가'를 다투는 작업이라 배분 오차가 곧 결론의 오차가 된다. 정밀도를 조금 포기하는 대신 배분 가정을 아예 쓰지 않는 쪽을 택했다.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58368" y="5138928"/>
          <a:ext cx="10874958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2493"/>
                <a:gridCol w="9062465"/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51C26"/>
                          </a:solidFill>
                          <a:latin typeface="맑은 고딕"/>
                        </a:rPr>
                        <a:t>권역유형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51C26"/>
                          </a:solidFill>
                          <a:latin typeface="맑은 고딕"/>
                        </a:rPr>
                        <a:t>소속 생활권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기성시가지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신안동, 성정동, 쌍용동, 청룡동, 신방동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농촌면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병천면, 입장면, 풍세면, 성남면, 북면, 동면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신도심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불당동, 부성동, 백석동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원도심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일봉동, 문성동, 봉명동, 중앙동, 원성동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읍지역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151C26"/>
                          </a:solidFill>
                          <a:latin typeface="맑은 고딕"/>
                        </a:rPr>
                        <a:t>직산읍, 목천읍, 성거읍, 성환읍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METHOD ·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진단 엔진 — 엔트로피 가중 균형발전지수(CBI)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가중치를 연구자가 정하지 않는다. 데이터의 변별력에서 가중치를 유도한다.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51C26"/>
                </a:solidFill>
                <a:latin typeface="맑은 고딕"/>
              </a:rPr>
              <a:t>5대 도메인 · 11개 지표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670048"/>
            <a:ext cx="68580" cy="43891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77824" y="2688336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인구활력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76272" y="2706624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D6874"/>
                </a:solidFill>
                <a:latin typeface="맑은 고딕"/>
              </a:rPr>
              <a:t>5년 인구증감률 · 청년비율 · 고령비율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236976"/>
            <a:ext cx="68580" cy="438912"/>
          </a:xfrm>
          <a:prstGeom prst="rect">
            <a:avLst/>
          </a:prstGeom>
          <a:solidFill>
            <a:srgbClr val="C9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77824" y="3255264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경제활력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3273552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D6874"/>
                </a:solidFill>
                <a:latin typeface="맑은 고딕"/>
              </a:rPr>
              <a:t>인구천명당 사업체수 · 상권 순증감 · 폐업률 · 업종 다양성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803904"/>
            <a:ext cx="68580" cy="438912"/>
          </a:xfrm>
          <a:prstGeom prst="rect">
            <a:avLst/>
          </a:prstGeom>
          <a:solidFill>
            <a:srgbClr val="2E7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77824" y="3822191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생활SOC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76272" y="3840480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D6874"/>
                </a:solidFill>
                <a:latin typeface="맑은 고딕"/>
              </a:rPr>
              <a:t>생활SOC 접근성(중력모형) · 인구천명당 SOC수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370831"/>
            <a:ext cx="68580" cy="438912"/>
          </a:xfrm>
          <a:prstGeom prst="rect">
            <a:avLst/>
          </a:prstGeom>
          <a:solidFill>
            <a:srgbClr val="3E9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77824" y="4389119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주거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76272" y="4407407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D6874"/>
                </a:solidFill>
                <a:latin typeface="맑은 고딕"/>
              </a:rPr>
              <a:t>빈집 추정률 · 노후(30년+) 건물 비율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4937760"/>
            <a:ext cx="68580" cy="438912"/>
          </a:xfrm>
          <a:prstGeom prst="rect">
            <a:avLst/>
          </a:prstGeom>
          <a:solidFill>
            <a:srgbClr val="8A7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77824" y="4956048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이동성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76272" y="4974336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D6874"/>
                </a:solidFill>
                <a:latin typeface="맑은 고딕"/>
              </a:rPr>
              <a:t>km²당 버스정류장 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64807" y="2286000"/>
            <a:ext cx="5074920" cy="324612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739128" y="250545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51C26"/>
                </a:solidFill>
                <a:latin typeface="맑은 고딕"/>
              </a:rPr>
              <a:t>왜 엔트로피 가중법인가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39128" y="2871216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1">
                <a:solidFill>
                  <a:srgbClr val="D64545"/>
                </a:solidFill>
                <a:latin typeface="Consolas"/>
              </a:rPr>
              <a:t>pⱼ = zⱼ / Σzⱼ    eⱼ = −k·Σ pⱼ ln pⱼ    wⱼ ∝ (1 − eⱼ)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39128" y="3401568"/>
            <a:ext cx="457200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생활권 간 차이를 잘 벌리는 지표일수록(=엔트로피가 낮을수록) 큰 가중치를 받는다.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50" b="0">
                <a:solidFill>
                  <a:srgbClr val="5D6874"/>
                </a:solidFill>
                <a:latin typeface="맑은 고딕"/>
              </a:rPr>
              <a:t/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50" b="0">
                <a:solidFill>
                  <a:srgbClr val="5D6874"/>
                </a:solidFill>
                <a:latin typeface="맑은 고딕"/>
              </a:rPr>
              <a:t>· 전문가 설문·AHP 방식과 달리 사람이 개입하지 않아 누가 돌려도 같은 값이 나온다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50" b="0">
                <a:solidFill>
                  <a:srgbClr val="5D6874"/>
                </a:solidFill>
                <a:latin typeface="맑은 고딕"/>
              </a:rPr>
              <a:t>· 지표가 추가·제외돼도 가중치가 자동 재배분되어 지수가 계속 유효하다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50" b="0">
                <a:solidFill>
                  <a:srgbClr val="5D6874"/>
                </a:solidFill>
                <a:latin typeface="맑은 고딕"/>
              </a:rPr>
              <a:t>· 심사·감사 과정에서 '왜 이 가중치인가'를 수식 한 줄로 답할 수 있다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96128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F0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779008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151C26"/>
                </a:solidFill>
                <a:latin typeface="맑은 고딕"/>
              </a:rPr>
              <a:t>정직성 장치 — 데이터가 없어 산출 불가한 지표는 임의값으로 채우지 않고 지수에서 제외하며,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151C26"/>
                </a:solidFill>
                <a:latin typeface="맑은 고딕"/>
              </a:rPr>
              <a:t>제외 사실을 로그와 산출물에 남긴다. 결측을 평균으로 메워 순위를 왜곡하는 흔한 실수를 구조적으로 막는다.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FINDING ·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진단 결과 — 25개 생활권 CBI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최상위 불당동 96점, 최하위 광덕면 8점. 같은 시(市) 안의 격차다.</a:t>
            </a:r>
          </a:p>
        </p:txBody>
      </p:sp>
      <p:pic>
        <p:nvPicPr>
          <p:cNvPr id="5" name="Picture 4" descr="01_CBI_랭킹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2529" y="2084831"/>
            <a:ext cx="4532477" cy="41148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33488" y="2121408"/>
            <a:ext cx="4160520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7333488" y="2121408"/>
            <a:ext cx="68580" cy="1225296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589519" y="2267712"/>
            <a:ext cx="3703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D6874"/>
                </a:solidFill>
                <a:latin typeface="맑은 고딕"/>
              </a:rPr>
              <a:t>신도심 ↔ 원도심 격차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19" y="2505456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151C26"/>
                </a:solidFill>
                <a:latin typeface="맑은 고딕"/>
              </a:rPr>
              <a:t>1.79배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19" y="2962656"/>
            <a:ext cx="3703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D6874"/>
                </a:solidFill>
                <a:latin typeface="맑은 고딕"/>
              </a:rPr>
              <a:t>84.2 vs 47.1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33488" y="3438144"/>
            <a:ext cx="4160520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7333488" y="3438144"/>
            <a:ext cx="68580" cy="1225296"/>
          </a:xfrm>
          <a:prstGeom prst="rect">
            <a:avLst/>
          </a:prstGeom>
          <a:solidFill>
            <a:srgbClr val="C9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589519" y="3584448"/>
            <a:ext cx="3703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D6874"/>
                </a:solidFill>
                <a:latin typeface="맑은 고딕"/>
              </a:rPr>
              <a:t>CBI 지니계수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19" y="3822191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151C26"/>
                </a:solidFill>
                <a:latin typeface="맑은 고딕"/>
              </a:rPr>
              <a:t>0.306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19" y="4279392"/>
            <a:ext cx="3703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D6874"/>
                </a:solidFill>
                <a:latin typeface="맑은 고딕"/>
              </a:rPr>
              <a:t>변동계수 54.7%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4754880"/>
            <a:ext cx="4160520" cy="12252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7333488" y="4754880"/>
            <a:ext cx="68580" cy="1225296"/>
          </a:xfrm>
          <a:prstGeom prst="rect">
            <a:avLst/>
          </a:prstGeom>
          <a:solidFill>
            <a:srgbClr val="2E7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589519" y="4901184"/>
            <a:ext cx="3703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5D6874"/>
                </a:solidFill>
                <a:latin typeface="맑은 고딕"/>
              </a:rPr>
              <a:t>군집 유형화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19" y="5138928"/>
            <a:ext cx="3703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>
                <a:solidFill>
                  <a:srgbClr val="151C26"/>
                </a:solidFill>
                <a:latin typeface="맑은 고딕"/>
              </a:rPr>
              <a:t>3개 유형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19" y="5596128"/>
            <a:ext cx="37033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D6874"/>
                </a:solidFill>
                <a:latin typeface="맑은 고딕"/>
              </a:rPr>
              <a:t>실루엣 계수 0.336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33488" y="6053328"/>
            <a:ext cx="4160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5D6874"/>
                </a:solidFill>
                <a:latin typeface="맑은 고딕"/>
              </a:rPr>
              <a:t>쇠퇴단계는 CBI 순위가 아니라 다차원 패턴으로 분류된다.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FINDING ·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같은 '어려움'이라도 필요한 도움이 다릅니다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원도심과 농촌면은 지수가 모두 낮게 나왔습니다. 그런데 항목을 나눠 보니 사정이 서로 달랐습니다.</a:t>
            </a:r>
          </a:p>
        </p:txBody>
      </p:sp>
      <p:pic>
        <p:nvPicPr>
          <p:cNvPr id="5" name="Picture 4" descr="02_도메인_히트맵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9606" y="2157984"/>
            <a:ext cx="5678362" cy="3200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653528" y="2157984"/>
            <a:ext cx="3840480" cy="1572768"/>
          </a:xfrm>
          <a:prstGeom prst="roundRect">
            <a:avLst>
              <a:gd name="adj" fmla="val 6000"/>
            </a:avLst>
          </a:prstGeom>
          <a:solidFill>
            <a:srgbClr val="FD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891272" y="2359152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D64545"/>
                </a:solidFill>
                <a:latin typeface="맑은 고딕"/>
              </a:rPr>
              <a:t>원도심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1272" y="2670048"/>
            <a:ext cx="33832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151C26"/>
                </a:solidFill>
                <a:latin typeface="맑은 고딕"/>
              </a:rPr>
              <a:t>시설은 이미 갖춰져 있습니다.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51C26"/>
                </a:solidFill>
                <a:latin typeface="맑은 고딕"/>
              </a:rPr>
              <a:t>어려운 쪽은 상권과 인구였습니다.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51C26"/>
                </a:solidFill>
                <a:latin typeface="맑은 고딕"/>
              </a:rPr>
              <a:t>→ 새로 짓기보다, 비어 있는 공간을 다시 쓰는 방향이 맞지 않을까 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53528" y="3858768"/>
            <a:ext cx="3840480" cy="1572768"/>
          </a:xfrm>
          <a:prstGeom prst="roundRect">
            <a:avLst>
              <a:gd name="adj" fmla="val 6000"/>
            </a:avLst>
          </a:prstGeom>
          <a:solidFill>
            <a:srgbClr val="F3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891272" y="4059936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6B5F9E"/>
                </a:solidFill>
                <a:latin typeface="맑은 고딕"/>
              </a:rPr>
              <a:t>농촌면 · 읍지역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91272" y="4370832"/>
            <a:ext cx="33832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151C26"/>
                </a:solidFill>
                <a:latin typeface="맑은 고딕"/>
              </a:rPr>
              <a:t>가까운 시설 자체가 부족합니다.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51C26"/>
                </a:solidFill>
                <a:latin typeface="맑은 고딕"/>
              </a:rPr>
              <a:t>대중교통 여건도 넉넉하지 않습니다.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51C26"/>
                </a:solidFill>
                <a:latin typeface="맑은 고딕"/>
              </a:rPr>
              <a:t>→ 거점 복합시설과 이동 지원을 함께 보시면 좋겠습니다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5559552"/>
            <a:ext cx="10874959" cy="749808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74243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51C26"/>
                </a:solidFill>
                <a:latin typeface="맑은 고딕"/>
              </a:rPr>
              <a:t>여러 동네를 한 묶음으로 보면 놓치기 쉬운 부분입니다. 유형을 나눠 보면 같은 예산으로도 각 동네에 조금 더 맞는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51C26"/>
                </a:solidFill>
                <a:latin typeface="맑은 고딕"/>
              </a:rPr>
              <a:t>도움을 드릴 수 있지 않을까 합니다. 어떤 사업이 맞을지는 결국 현장을 아시는 분들의 판단이 필요한 부분입니다.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FINDING ·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격차는 수렴하지 않고 벌어지고 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권역유형별 인구·사업체 궤적이 시간이 갈수록 분기한다. 개입하지 않으면 자동으로 좁혀지지 않는다.</a:t>
            </a:r>
          </a:p>
        </p:txBody>
      </p:sp>
      <p:pic>
        <p:nvPicPr>
          <p:cNvPr id="5" name="Picture 4" descr="03_격차추이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0187" y="2286000"/>
            <a:ext cx="8071319" cy="3200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" y="5650992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FD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5833872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이 그림이 조기경보 엔진의 출발점이다 — 추세가 이미 갈라졌다면, 다음에 갈라질 곳도 지금의 구조에서 읽어낼 수 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미리 살펴보기 — 쇠퇴 조기경보 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이미 어려워진 곳뿐 아니라, 앞으로 살펴보면 좋을 곳도 함께 짚어보려 만들었습니다.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D64545"/>
                </a:solidFill>
                <a:latin typeface="맑은 고딕"/>
              </a:rPr>
              <a:t>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28600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무엇을 살펴보나요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560320"/>
            <a:ext cx="5486400" cy="6021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D6874"/>
                </a:solidFill>
                <a:latin typeface="맑은 고딕"/>
              </a:rPr>
              <a:t>t년 정보만으로 t+3년 상황을 미리 봅니다. 예산 편성에 1년, 사업 착수에 1~2년이</a:t>
            </a:r>
          </a:p>
          <a:p>
            <a:pPr algn="l">
              <a:lnSpc>
                <a:spcPct val="142000"/>
              </a:lnSpc>
              <a:spcBef>
                <a:spcPts val="0"/>
              </a:spcBef>
            </a:pPr>
            <a:r>
              <a:rPr sz="1050" b="0">
                <a:solidFill>
                  <a:srgbClr val="5D6874"/>
                </a:solidFill>
                <a:latin typeface="맑은 고딕"/>
              </a:rPr>
              <a:t>걸리는 점을 감안해 3년으로 잡았습니다.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294514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D64545"/>
                </a:solidFill>
                <a:latin typeface="맑은 고딕"/>
              </a:rPr>
              <a:t>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29451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모델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568834"/>
            <a:ext cx="5486400" cy="4014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D6874"/>
                </a:solidFill>
                <a:latin typeface="맑은 고딕"/>
              </a:rPr>
              <a:t>LightGBM 회귀입니다. 표본이 많지 않아 규제를 강하게 걸고 얕은 트리를 썼습니다.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10231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D64545"/>
                </a:solidFill>
                <a:latin typeface="맑은 고딕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10231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검증 — Leave-One-Zone-Out CV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376630"/>
            <a:ext cx="5486400" cy="6021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D6874"/>
                </a:solidFill>
                <a:latin typeface="맑은 고딕"/>
              </a:rPr>
              <a:t>같은 생활권이 학습과 검증에 동시에 들어가지 않게 했습니다. 가까운 동네끼리는</a:t>
            </a:r>
          </a:p>
          <a:p>
            <a:pPr algn="l">
              <a:lnSpc>
                <a:spcPct val="142000"/>
              </a:lnSpc>
              <a:spcBef>
                <a:spcPts val="0"/>
              </a:spcBef>
            </a:pPr>
            <a:r>
              <a:rPr sz="1050" b="0">
                <a:solidFill>
                  <a:srgbClr val="5D6874"/>
                </a:solidFill>
                <a:latin typeface="맑은 고딕"/>
              </a:rPr>
              <a:t>닮아 있어 무작위로 나누면 성능이 실제보다 좋아 보이기 때문입니다.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110825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D64545"/>
                </a:solidFill>
                <a:latin typeface="맑은 고딕"/>
              </a:rPr>
              <a:t>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5110825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이유까지 함께 — SHAP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5385145"/>
            <a:ext cx="5486400" cy="2007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50" b="0">
                <a:solidFill>
                  <a:srgbClr val="5D6874"/>
                </a:solidFill>
                <a:latin typeface="맑은 고딕"/>
              </a:rPr>
              <a:t>동네마다 어떤 항목 때문에 그렇게 나왔는지 나눠서 보여드립니다.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30568" y="2331720"/>
            <a:ext cx="470916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104888" y="25603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51C26"/>
                </a:solidFill>
                <a:latin typeface="맑은 고딕"/>
              </a:rPr>
              <a:t>성능 (현재 데이터 기준)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04888" y="296265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검증 방식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25128" y="296265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Leave-One-Zone-Out CV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04888" y="340156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모드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25128" y="340156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패널 t → t+3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04888" y="38404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R²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25128" y="38404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— (데이터 대기)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04888" y="42793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MAE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25128" y="427939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04888" y="471830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베이스라인 대비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25128" y="471830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4888" y="5230368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>
                <a:solidFill>
                  <a:srgbClr val="5D6874"/>
                </a:solidFill>
                <a:latin typeface="맑은 고딕"/>
              </a:rPr>
              <a:t>베이스라인은 '지금 상태가 그대로 간다'는 가정입니다. 이보다 나아야 참고할 가치가 있다고 보았습니다.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779008"/>
            <a:ext cx="10874959" cy="566928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32688" y="5925312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151C26"/>
                </a:solidFill>
                <a:latin typeface="맑은 고딕"/>
              </a:rPr>
              <a:t>데이터 상황에 따라 모드가 자동 전환된다 — 개·폐업 시계열이 확보되면 패널 예측(t→t+3)으로, 없으면 구조지표 횡단면 모드로 돌아간다.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FINDING ·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예측 결과 — 다음 3년, 어디를 봐야 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대각선 위쪽은 현재보다 위험이 더 올라갈 것으로 예측된 생활권이다.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61888" y="5029200"/>
            <a:ext cx="5577840" cy="822960"/>
          </a:xfrm>
          <a:prstGeom prst="roundRect">
            <a:avLst>
              <a:gd name="adj" fmla="val 6000"/>
            </a:avLst>
          </a:prstGeom>
          <a:solidFill>
            <a:srgbClr val="FDF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190488" y="5193792"/>
            <a:ext cx="51206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>
                <a:solidFill>
                  <a:srgbClr val="151C26"/>
                </a:solidFill>
                <a:latin typeface="맑은 고딕"/>
              </a:rPr>
              <a:t>예측 엔진 미실행 — 인구증감률(정답변수)이 단일 시점이라 변동이 없습니다. 다른 연도의 주민등록 인구 파일을 data/raw/pop_jumin_2.csv 로 추가하면 조기경보 모델이 활성화됩니다.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순서 정하기 — 생활SOC 우선순위 계산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예산을 얼마나 쓸지가 아니라, 한 곳을 놓는다면 어디가 가장 많은 분께 닿을지를 계산했습니다.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51C26"/>
                </a:solidFill>
                <a:latin typeface="맑은 고딕"/>
              </a:rPr>
              <a:t>MCLP — 최대커버링 입지문제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633472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D64545"/>
                </a:solidFill>
                <a:latin typeface="Consolas"/>
              </a:rPr>
              <a:t>max  Σ  dᵢ · yᵢ      s.t.  yᵢ ≤ Σ xⱼ ,  Σ xⱼ = p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1">
                <a:solidFill>
                  <a:srgbClr val="D64545"/>
                </a:solidFill>
                <a:latin typeface="Consolas"/>
              </a:rPr>
              <a:t>        i∈수요격자                    j∈Nᵢ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21868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218688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51C26"/>
                </a:solidFill>
                <a:latin typeface="맑은 고딕"/>
              </a:rPr>
              <a:t>수요 dᵢ — 취약가중 인구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493008"/>
            <a:ext cx="5394960" cy="382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D6874"/>
                </a:solidFill>
                <a:latin typeface="맑은 고딕"/>
              </a:rPr>
              <a:t>격자 인구에 고령화율과 CBI 열위를 가중한다. 같은 1명이라도 취약지역의 1명을 더 크게 센다.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00736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4007368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51C26"/>
                </a:solidFill>
                <a:latin typeface="맑은 고딕"/>
              </a:rPr>
              <a:t>커버 Nᵢ — 반경 1.0km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281688"/>
            <a:ext cx="5394960" cy="382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D6874"/>
                </a:solidFill>
                <a:latin typeface="맑은 고딕"/>
              </a:rPr>
              <a:t>도보 15분권. '15분 도시' 개념과 맞추고 행정경계를 넘는 이용도 반영한다.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79604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796048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51C26"/>
                </a:solidFill>
                <a:latin typeface="맑은 고딕"/>
              </a:rPr>
              <a:t>후보지 xⱼ — 빈집·노후 밀집 격자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5070368"/>
            <a:ext cx="5394960" cy="382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D6874"/>
                </a:solidFill>
                <a:latin typeface="맑은 고딕"/>
              </a:rPr>
              <a:t>새 땅을 사는 대신 이미 비어 있는 공간을 후보로 둔다. 도시재생 사업과 바로 접속된다.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58472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5584728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151C26"/>
                </a:solidFill>
                <a:latin typeface="맑은 고딕"/>
              </a:rPr>
              <a:t>탐욕 근사의 보장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5859048"/>
            <a:ext cx="5394960" cy="382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00" b="0">
                <a:solidFill>
                  <a:srgbClr val="5D6874"/>
                </a:solidFill>
                <a:latin typeface="맑은 고딕"/>
              </a:rPr>
              <a:t>submodular 목적함수이므로 탐욕해가 최적해의 (1−1/e)≈63% 이상을 보장한다.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39128" y="2286000"/>
            <a:ext cx="4800600" cy="2788920"/>
          </a:xfrm>
          <a:prstGeom prst="roundRect">
            <a:avLst>
              <a:gd name="adj" fmla="val 6000"/>
            </a:avLst>
          </a:prstGeom>
          <a:solidFill>
            <a:srgbClr val="F0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013448" y="2505456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3E9B7C"/>
                </a:solidFill>
                <a:latin typeface="맑은 고딕"/>
              </a:rPr>
              <a:t>형평성 제약을 넣은 이유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3448" y="2871216"/>
            <a:ext cx="42976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151C26"/>
                </a:solidFill>
                <a:latin typeface="맑은 고딕"/>
              </a:rPr>
              <a:t>계산만 그대로 두면 효율이 가장 높은 한 동네에 전부 몰립니다. 수식으로는 맞지만 균형발전이라는 취지에는 맞지 않는다고 생각했습니다.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51C26"/>
                </a:solidFill>
                <a:latin typeface="맑은 고딕"/>
              </a:rPr>
              <a:t/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51C26"/>
                </a:solidFill>
                <a:latin typeface="맑은 고딕"/>
              </a:rPr>
              <a:t>그래서 생활권당 최대 2개소로 제한했습니다. 총 효과는 조금 줄지만 여러 동네에 나누어 닿습니다.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51C26"/>
                </a:solidFill>
                <a:latin typeface="맑은 고딕"/>
              </a:rPr>
              <a:t/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51C26"/>
                </a:solidFill>
                <a:latin typeface="맑은 고딕"/>
              </a:rPr>
              <a:t>이 값은 조정 가능하니, 시 사정에 맞게 바꿔 쓰시면 됩니다.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39128" y="5193792"/>
            <a:ext cx="4800600" cy="1115568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013448" y="5376672"/>
            <a:ext cx="4297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151C26"/>
                </a:solidFill>
                <a:latin typeface="맑은 고딕"/>
              </a:rPr>
              <a:t>결과는 '순위 · 생활권 · 시설유형 · 새로 닿는 인구 · 개선폭'이 적힌 표 한 장입니다.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51C26"/>
                </a:solidFill>
                <a:latin typeface="맑은 고딕"/>
              </a:rPr>
              <a:t>검토 자료로 참고하실 수 있으면 좋겠습니다.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FINDING ·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처방 결과 — 투자 우선순위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상위 12개소 우선 투자 시 취약수요 커버리지 +7.1%p, 신규 수혜인구 약 32,822명.</a:t>
            </a:r>
          </a:p>
        </p:txBody>
      </p:sp>
      <p:pic>
        <p:nvPicPr>
          <p:cNvPr id="5" name="Picture 4" descr="07_투자입지_지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4495" y="2212848"/>
            <a:ext cx="3654064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79007" y="2212848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51C26"/>
                </a:solidFill>
                <a:latin typeface="맑은 고딕"/>
              </a:rPr>
              <a:t>AI 추천 투자 순위 (상위 10)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79007" y="2560320"/>
          <a:ext cx="5760715" cy="33695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79"/>
                <a:gridCol w="1280159"/>
                <a:gridCol w="1097279"/>
                <a:gridCol w="1463039"/>
                <a:gridCol w="1280159"/>
              </a:tblGrid>
              <a:tr h="306324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1C26"/>
                          </a:solidFill>
                          <a:latin typeface="맑은 고딕"/>
                        </a:rPr>
                        <a:t>순위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1C26"/>
                          </a:solidFill>
                          <a:latin typeface="맑은 고딕"/>
                        </a:rPr>
                        <a:t>생활권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1C26"/>
                          </a:solidFill>
                          <a:latin typeface="맑은 고딕"/>
                        </a:rPr>
                        <a:t>시설유형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1C26"/>
                          </a:solidFill>
                          <a:latin typeface="맑은 고딕"/>
                        </a:rPr>
                        <a:t>신규 수혜인구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1C26"/>
                          </a:solidFill>
                          <a:latin typeface="맑은 고딕"/>
                        </a:rPr>
                        <a:t>커버리지 개선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성거읍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복지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4,078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+1.32%p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성거읍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7,740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+1.32%p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성남면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복지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6,645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+0.82%p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성환읍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1,689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+0.59%p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성남면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4,415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+0.53%p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성환읍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1,501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+0.42%p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풍세면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1,003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+0.39%p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북면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763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+0.38%p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풍세면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보육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1,003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+0.36%p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입장면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보육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1,626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+0.36%p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FINDING ·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어디서 멈춰도 근거가 남는다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한계효용 체감 곡선이 있으면 예산이 깎여도 '몇 개소까지가 합리적인가'를 답할 수 있다.</a:t>
            </a:r>
          </a:p>
        </p:txBody>
      </p:sp>
      <p:pic>
        <p:nvPicPr>
          <p:cNvPr id="5" name="Picture 4" descr="08_커버리지_곡선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366" y="2212848"/>
            <a:ext cx="5833682" cy="3200400"/>
          </a:xfrm>
          <a:prstGeom prst="rect">
            <a:avLst/>
          </a:prstGeom>
        </p:spPr>
      </p:pic>
      <p:pic>
        <p:nvPicPr>
          <p:cNvPr id="6" name="Picture 5" descr="06_SOC_사각지대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6368" y="2388514"/>
            <a:ext cx="4023360" cy="284906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8368" y="5577840"/>
            <a:ext cx="10874959" cy="749808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57607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51C26"/>
                </a:solidFill>
                <a:latin typeface="맑은 고딕"/>
              </a:rPr>
              <a:t>실무적 가치 — 예산 심의에서 가장 자주 나오는 질문은 '이걸 왜 이 순서로 하느냐'와 '반만 하면 어떻게 되느냐'다.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51C26"/>
                </a:solidFill>
                <a:latin typeface="맑은 고딕"/>
              </a:rPr>
              <a:t>이 곡선은 두 질문에 동시에 답한다. 좌측 그림의 좌상단 영역(고령↑·SOC↓)이 최우선 사각지대다.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FOR WHOM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결국, 이런 분들께 닿았으면 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지수와 모델은 수단일 뿐입니다. 저희가 계속 떠올린 것은 아래 네 분의 하루였습니다.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286000"/>
            <a:ext cx="68580" cy="1371600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D64545"/>
                </a:solidFill>
                <a:latin typeface="맑은 고딕"/>
              </a:rPr>
              <a:t>원도심에 오래 사신 어르신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3464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24 일대는 젊은 이웃이 하나둘 떠나고 상가도 비었습니다.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가게와 병원이 멀어질수록, 걸어서 하실 수 있는 일이 줄어듭니다.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7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236207" y="2286000"/>
            <a:ext cx="68580" cy="1371600"/>
          </a:xfrm>
          <a:prstGeom prst="rect">
            <a:avLst/>
          </a:prstGeom>
          <a:solidFill>
            <a:srgbClr val="8A7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2240" y="246888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8A7FB5"/>
                </a:solidFill>
                <a:latin typeface="맑은 고딕"/>
              </a:rPr>
              <a:t>농촌면에서 아이 키우시는 부모님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83464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고령 비율이 가장 높은 곳은 22으로 54%였습니다.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어린이집·도서관이 가까이 없으면 그 부담은 온전히 가정의 몫이 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58368" y="3858768"/>
            <a:ext cx="68580" cy="1371600"/>
          </a:xfrm>
          <a:prstGeom prst="rect">
            <a:avLst/>
          </a:prstGeom>
          <a:solidFill>
            <a:srgbClr val="C9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404164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C98A1E"/>
                </a:solidFill>
                <a:latin typeface="맑은 고딕"/>
              </a:rPr>
              <a:t>원도심에서 가게를 지켜오신 상인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407407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오가는 분이 줄면 매출이 줄고, 문 닫는 가게가 늘면 오가는 분이 더 줍니다.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이 고리를 일찍 알아차릴 수 있다면, 도움드릴 방법도 더 많아집니다.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6207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236207" y="3858768"/>
            <a:ext cx="68580" cy="1371600"/>
          </a:xfrm>
          <a:prstGeom prst="rect">
            <a:avLst/>
          </a:prstGeom>
          <a:solidFill>
            <a:srgbClr val="2E7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92240" y="404164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2E7DD1"/>
                </a:solidFill>
                <a:latin typeface="맑은 고딕"/>
              </a:rPr>
              <a:t>신도심에서 자리 잡은 이웃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407407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지금 여건이 좋은 곳도 언젠가는 나이가 듭니다.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미리 살펴보는 습관은 결국 천안시민 모두를 위한 준비라고 생각합니다.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5541264"/>
            <a:ext cx="10874959" cy="786384"/>
          </a:xfrm>
          <a:prstGeom prst="roundRect">
            <a:avLst>
              <a:gd name="adj" fmla="val 6000"/>
            </a:avLst>
          </a:prstGeom>
          <a:solidFill>
            <a:srgbClr val="F0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724144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51C26"/>
                </a:solidFill>
                <a:latin typeface="맑은 고딕"/>
              </a:rPr>
              <a:t>저희는 천안시 사정을 현장에서 겪어보지 못한 참가자입니다. 다만 공개된 데이터로 할 수 있는 만큼은 성실하게 살펴보았습니다.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51C26"/>
                </a:solidFill>
                <a:latin typeface="맑은 고딕"/>
              </a:rPr>
              <a:t>부족한 부분은 현장을 아시는 분들이 채워주시길 바라며, 이 자료가 그 논의의 출발점이 될 수 있다면 더 바랄 것이 없겠습니다.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실무에 이렇게 보탬이 되면 좋겠습니다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따로 시간을 내어 다뤄야 하는 연구물이 아니라, 하시던 업무 곁에 놓고 참고하실 수 있는 자료로 준비했습니다.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286000"/>
            <a:ext cx="68580" cy="1371600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4505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D64545"/>
                </a:solidFill>
                <a:latin typeface="맑은 고딕"/>
              </a:rPr>
              <a:t>도시재생 담당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51C26"/>
                </a:solidFill>
                <a:latin typeface="맑은 고딕"/>
              </a:rPr>
              <a:t>사업지 검토 · 공모 준비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54096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D6874"/>
                </a:solidFill>
                <a:latin typeface="맑은 고딕"/>
              </a:rPr>
              <a:t>지수가 낮은 곳과 3년 뒤 살펴볼 곳을 겹쳐 후보를 좁히실 때,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D6874"/>
                </a:solidFill>
                <a:latin typeface="맑은 고딕"/>
              </a:rPr>
              <a:t>공모의 '쇠퇴도 진단' 항목에 근거 수치로.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7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236207" y="2286000"/>
            <a:ext cx="68580" cy="1371600"/>
          </a:xfrm>
          <a:prstGeom prst="rect">
            <a:avLst/>
          </a:prstGeom>
          <a:solidFill>
            <a:srgbClr val="2E7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92240" y="24505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E7DD1"/>
                </a:solidFill>
                <a:latin typeface="맑은 고딕"/>
              </a:rPr>
              <a:t>복지·보건 담당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74320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51C26"/>
                </a:solidFill>
                <a:latin typeface="맑은 고딕"/>
              </a:rPr>
              <a:t>생활시설 위치 검토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054096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D6874"/>
                </a:solidFill>
                <a:latin typeface="맑은 고딕"/>
              </a:rPr>
              <a:t>우선순위표의 좌표를 검토 후보 중 하나로,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D6874"/>
                </a:solidFill>
                <a:latin typeface="맑은 고딕"/>
              </a:rPr>
              <a:t>왜 그 동네인지 설명하실 때 항목별 근거로.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58368" y="3858768"/>
            <a:ext cx="68580" cy="1371600"/>
          </a:xfrm>
          <a:prstGeom prst="rect">
            <a:avLst/>
          </a:prstGeom>
          <a:solidFill>
            <a:srgbClr val="3E9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4023359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3E9B7C"/>
                </a:solidFill>
                <a:latin typeface="맑은 고딕"/>
              </a:rPr>
              <a:t>예산 담당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31596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51C26"/>
                </a:solidFill>
                <a:latin typeface="맑은 고딕"/>
              </a:rPr>
              <a:t>배분 검토 자료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626864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D6874"/>
                </a:solidFill>
                <a:latin typeface="맑은 고딕"/>
              </a:rPr>
              <a:t>몇 개소까지면 어느 정도 효과인지 곡선으로 비교하실 때,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D6874"/>
                </a:solidFill>
                <a:latin typeface="맑은 고딕"/>
              </a:rPr>
              <a:t>예산 조정이 필요할 때 판단의 참고로.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7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236207" y="3858768"/>
            <a:ext cx="68580" cy="1371600"/>
          </a:xfrm>
          <a:prstGeom prst="rect">
            <a:avLst/>
          </a:prstGeom>
          <a:solidFill>
            <a:srgbClr val="C9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92240" y="4023359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C98A1E"/>
                </a:solidFill>
                <a:latin typeface="맑은 고딕"/>
              </a:rPr>
              <a:t>기획·평가 담당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31596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51C26"/>
                </a:solidFill>
                <a:latin typeface="맑은 고딕"/>
              </a:rPr>
              <a:t>시행 이후 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626864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D6874"/>
                </a:solidFill>
                <a:latin typeface="맑은 고딕"/>
              </a:rPr>
              <a:t>이듬해 같은 스크립트로 지수 변화를 이어 보실 때,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D6874"/>
                </a:solidFill>
                <a:latin typeface="맑은 고딕"/>
              </a:rPr>
              <a:t>하신 사업이 수치로도 나아졌는지 확인하실 때.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41264"/>
            <a:ext cx="10874959" cy="786384"/>
          </a:xfrm>
          <a:prstGeom prst="roundRect">
            <a:avLst>
              <a:gd name="adj" fmla="val 6000"/>
            </a:avLst>
          </a:prstGeom>
          <a:solidFill>
            <a:srgbClr val="F0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705856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51C26"/>
                </a:solidFill>
                <a:latin typeface="맑은 고딕"/>
              </a:rPr>
              <a:t>쓰시는 방법 — 연 1회 공공데이터를 새로 받아 스크립트를 실행하시면 모든 자료가 다시 만들어집니다.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51C26"/>
                </a:solidFill>
                <a:latin typeface="맑은 고딕"/>
              </a:rPr>
              <a:t>별도 시스템이나 데이터 구매 없이, 담당자 한 분이 반나절이면 그 해 자료를 준비하실 수 있습니다.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기대효과와 실행 로드맵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084831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51C26"/>
                </a:solidFill>
                <a:latin typeface="맑은 고딕"/>
              </a:rPr>
              <a:t>기대효과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468880"/>
            <a:ext cx="68580" cy="566928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77824" y="2468880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시민께 닿는 범위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7432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효과가 큰 곳부터 살펴보면, 같은 예산으로도 더 많은 분께 닿을 수 있습니다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218688"/>
            <a:ext cx="68580" cy="566928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77824" y="3218688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살펴보는 시점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349300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어려워진 뒤가 아니라, 3년 앞을 미리 짚어볼 수 있습니다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68496"/>
            <a:ext cx="68580" cy="566928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77824" y="3968496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설명하실 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4242816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판단 근거를 항목별 수치로 정리해 드려 설명 부담을 조금 덜어드립니다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718304"/>
            <a:ext cx="68580" cy="566928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77824" y="4718304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드는 비용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4992624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데이터 구매나 시스템 없이, 스크립트 재실행만으로 매년 갱신됩니다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0528" y="2084831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51C26"/>
                </a:solidFill>
                <a:latin typeface="맑은 고딕"/>
              </a:rPr>
              <a:t>실행 로드맵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10528" y="2468880"/>
            <a:ext cx="68580" cy="566928"/>
          </a:xfrm>
          <a:prstGeom prst="rect">
            <a:avLst/>
          </a:prstGeom>
          <a:solidFill>
            <a:srgbClr val="3E9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729983" y="2468880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3E9B7C"/>
                </a:solidFill>
                <a:latin typeface="맑은 고딕"/>
              </a:rPr>
              <a:t>1단계 · 즉시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9983" y="27432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본 스크립트로 천안시 25개 생활권 기준선 진단 확정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10528" y="3218688"/>
            <a:ext cx="68580" cy="566928"/>
          </a:xfrm>
          <a:prstGeom prst="rect">
            <a:avLst/>
          </a:prstGeom>
          <a:solidFill>
            <a:srgbClr val="2E7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729983" y="3218688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E7DD1"/>
                </a:solidFill>
                <a:latin typeface="맑은 고딕"/>
              </a:rPr>
              <a:t>2단계 · 3개월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9983" y="349300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천안시 내부 행정데이터(인허가 원장·건축물대장·복지수급) 연계로 지표 정밀화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10528" y="3968496"/>
            <a:ext cx="68580" cy="566928"/>
          </a:xfrm>
          <a:prstGeom prst="rect">
            <a:avLst/>
          </a:prstGeom>
          <a:solidFill>
            <a:srgbClr val="C9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729983" y="3968496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C98A1E"/>
                </a:solidFill>
                <a:latin typeface="맑은 고딕"/>
              </a:rPr>
              <a:t>3단계 · 6개월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9983" y="4242816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500m 격자 단위로 공간해상도 상향 — 표본 확대로 예측모델 성능 개선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10528" y="4718304"/>
            <a:ext cx="68580" cy="566928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729983" y="4718304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D64545"/>
                </a:solidFill>
                <a:latin typeface="맑은 고딕"/>
              </a:rPr>
              <a:t>4단계 · 1년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9983" y="4992624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천안시 행정포털 대시보드 내재화, 연 1회 자동 갱신 체계 정착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504688"/>
            <a:ext cx="10874959" cy="82296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32688" y="5687568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51C26"/>
                </a:solidFill>
                <a:latin typeface="맑은 고딕"/>
              </a:rPr>
              <a:t>다른 지역에도 — 공간단위 정의(config.py)만 바꾸면 아산·청주 등에도 같은 방식으로 쓸 수 있습니다.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51C26"/>
                </a:solidFill>
                <a:latin typeface="맑은 고딕"/>
              </a:rPr>
              <a:t>원도심 공동화는 천안만의 일이 아니어서, 도움이 된다면 충남 시군이 함께 쓰는 자료가 되어도 좋겠습니다.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LIMITATION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저희가 아직 못 한 부분을 먼저 말씀드립니다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행정에 쓰이는 자료인 만큼, 어디까지 믿고 쓰실 수 있는지 분명히 알려드리는 것이 도리라고 생각했습니다.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86000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286000"/>
            <a:ext cx="68580" cy="896112"/>
          </a:xfrm>
          <a:prstGeom prst="rect">
            <a:avLst/>
          </a:prstGeom>
          <a:solidFill>
            <a:srgbClr val="C9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2414016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C98A1E"/>
                </a:solidFill>
                <a:latin typeface="맑은 고딕"/>
              </a:rPr>
              <a:t>표본 크기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72968" y="2414016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분석 단위가 25개 생활권이라 머신러닝 표본으로는 작다.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2968" y="2706624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D6874"/>
                </a:solidFill>
                <a:latin typeface="맑은 고딕"/>
              </a:rPr>
              <a:t>→ 500m 격자 단위로 내리면 표본이 수천 개로 늘어난다. 현재는 규제를 강하게 걸고 Leave-One-Zone-Out CV와 베이스라인 비교로 과적합 여부를 확인하고 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310128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58368" y="3310128"/>
            <a:ext cx="68580" cy="896112"/>
          </a:xfrm>
          <a:prstGeom prst="rect">
            <a:avLst/>
          </a:prstGeom>
          <a:solidFill>
            <a:srgbClr val="C9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438144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C98A1E"/>
                </a:solidFill>
                <a:latin typeface="맑은 고딕"/>
              </a:rPr>
              <a:t>공간 해상도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72968" y="3438144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생활권 내부의 격차(같은 동 안의 편차)는 잡히지 않는다.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72968" y="3730752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D6874"/>
                </a:solidFill>
                <a:latin typeface="맑은 고딕"/>
              </a:rPr>
              <a:t>→ 집계구·격자 데이터로 전환하면 해결된다. 공간단위 정의만 교체하면 되도록 설계했다.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334256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58368" y="4334256"/>
            <a:ext cx="68580" cy="896112"/>
          </a:xfrm>
          <a:prstGeom prst="rect">
            <a:avLst/>
          </a:prstGeom>
          <a:solidFill>
            <a:srgbClr val="C9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62272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C98A1E"/>
                </a:solidFill>
                <a:latin typeface="맑은 고딕"/>
              </a:rPr>
              <a:t>빈집 데이터 정밀도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72968" y="4462272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빈집 통계는 시군구 단위 공표가 많아 읍면동 배분에 가정이 들어간다.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72968" y="4754880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D6874"/>
                </a:solidFill>
                <a:latin typeface="맑은 고딕"/>
              </a:rPr>
              <a:t>→ 천안시 빈집실태조사 원자료를 연계하면 가정 없이 대체된다.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358384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58368" y="5358384"/>
            <a:ext cx="68580" cy="896112"/>
          </a:xfrm>
          <a:prstGeom prst="rect">
            <a:avLst/>
          </a:prstGeom>
          <a:solidFill>
            <a:srgbClr val="C9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486400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C98A1E"/>
                </a:solidFill>
                <a:latin typeface="맑은 고딕"/>
              </a:rPr>
              <a:t>인과 아닌 상관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72968" y="54864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본 모델은 쇠퇴를 예측할 뿐, 사업의 인과효과를 증명하지 않는다.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72968" y="5779008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D6874"/>
                </a:solidFill>
                <a:latin typeface="맑은 고딕"/>
              </a:rPr>
              <a:t>→ 사업 시행 전후 이중차분(DID) 설계를 붙이면 효과 검증까지 확장 가능하다.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INTEGRITY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재현성과 데이터 윤리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2121408"/>
            <a:ext cx="5257800" cy="24871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58368" y="2121408"/>
            <a:ext cx="5257800" cy="68580"/>
          </a:xfrm>
          <a:prstGeom prst="rect">
            <a:avLst/>
          </a:prstGeom>
          <a:solidFill>
            <a:srgbClr val="3E9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32688" y="2340864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3E9B7C"/>
                </a:solidFill>
                <a:latin typeface="맑은 고딕"/>
              </a:rPr>
              <a:t>재현성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743200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3E9B7C"/>
                </a:solidFill>
                <a:latin typeface="맑은 고딕"/>
              </a:rPr>
              <a:t>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274320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51C26"/>
                </a:solidFill>
                <a:latin typeface="맑은 고딕"/>
              </a:rPr>
              <a:t>전 과정이 공개 스크립트로 실행 — `python3 src/run_all.py` 한 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218688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3E9B7C"/>
                </a:solidFill>
                <a:latin typeface="맑은 고딕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321868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51C26"/>
                </a:solidFill>
                <a:latin typeface="맑은 고딕"/>
              </a:rPr>
              <a:t>난수 시드 고정(20260831) — 군집·모델 결과가 실행마다 동일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694176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3E9B7C"/>
                </a:solidFill>
                <a:latin typeface="맑은 고딕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3694176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51C26"/>
                </a:solidFill>
                <a:latin typeface="맑은 고딕"/>
              </a:rPr>
              <a:t>그림 8종·분석표 9종·대시보드가 같은 실행에서 함께 생성됨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169664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3E9B7C"/>
                </a:solidFill>
                <a:latin typeface="맑은 고딕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4169664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51C26"/>
                </a:solidFill>
                <a:latin typeface="맑은 고딕"/>
              </a:rPr>
              <a:t>지표 정의·가중치·모델 파라미터가 전부 코드에 명시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7" y="2121408"/>
            <a:ext cx="5257800" cy="24871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236207" y="2121408"/>
            <a:ext cx="5257800" cy="68580"/>
          </a:xfrm>
          <a:prstGeom prst="rect">
            <a:avLst/>
          </a:prstGeom>
          <a:solidFill>
            <a:srgbClr val="2E7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10527" y="2340864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2E7DD1"/>
                </a:solidFill>
                <a:latin typeface="맑은 고딕"/>
              </a:rPr>
              <a:t>데이터 윤리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7" y="2743200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E7DD1"/>
                </a:solidFill>
                <a:latin typeface="맑은 고딕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11696" y="274320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51C26"/>
                </a:solidFill>
                <a:latin typeface="맑은 고딕"/>
              </a:rPr>
              <a:t>정식 공공데이터 포털에서 내려받은 파일만 사용 — 크롤링 없음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7" y="3218688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E7DD1"/>
                </a:solidFill>
                <a:latin typeface="맑은 고딕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11696" y="321868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51C26"/>
                </a:solidFill>
                <a:latin typeface="맑은 고딕"/>
              </a:rPr>
              <a:t>상업 목적 민간데이터 무단 사용 없음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0527" y="3694176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E7DD1"/>
                </a:solidFill>
                <a:latin typeface="맑은 고딕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11696" y="3694176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51C26"/>
                </a:solidFill>
                <a:latin typeface="맑은 고딕"/>
              </a:rPr>
              <a:t>전 지표가 생활권 단위 집계값 — 개인식별정보 미취급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0527" y="4169664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E7DD1"/>
                </a:solidFill>
                <a:latin typeface="맑은 고딕"/>
              </a:rPr>
              <a:t>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11696" y="4169664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51C26"/>
                </a:solidFill>
                <a:latin typeface="맑은 고딕"/>
              </a:rPr>
              <a:t>출처·수집시점·컬럼을 `00_데이터_출처.csv` 에 자동 기록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809744"/>
            <a:ext cx="10874959" cy="1051560"/>
          </a:xfrm>
          <a:prstGeom prst="roundRect">
            <a:avLst>
              <a:gd name="adj" fmla="val 6000"/>
            </a:avLst>
          </a:prstGeom>
          <a:solidFill>
            <a:srgbClr val="FD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50976" y="5010912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D64545"/>
                </a:solidFill>
                <a:latin typeface="맑은 고딕"/>
              </a:rPr>
              <a:t>실데이터 / 예시데이터 구분 장치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" y="5340096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151C26"/>
                </a:solidFill>
                <a:latin typeface="맑은 고딕"/>
              </a:rPr>
              <a:t>파이프라인은 각 지표가 실데이터인지 예시(illustrative) 값인지를 매 실행마다 판정해 로그·대시보드·본 기획서에 표기한다.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151C26"/>
                </a:solidFill>
                <a:latin typeface="맑은 고딕"/>
              </a:rPr>
              <a:t>예시 데이터를 실측치로 오인해 제출하는 사고를 막기 위한 장치이며, 실데이터를 넣으면 해당 표기가 자동으로 사라진다.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60533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D64545"/>
                </a:solidFill>
                <a:latin typeface="맑은 고딕"/>
              </a:rPr>
              <a:t>현재 상태: 실데이터 지표 1/5  ·  제출 전 실데이터 투입 후 재실행 필요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