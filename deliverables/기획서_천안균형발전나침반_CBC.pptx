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417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E08A8A"/>
                </a:solidFill>
                <a:latin typeface="맑은 고딕"/>
              </a:rPr>
              <a:t>2026년 천안시 AI·데이터 기반 정책 아이디어 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01952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맑은 고딕"/>
              </a:rPr>
              <a:t>천안 균형발전 나침반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A97A8"/>
                </a:solidFill>
                <a:latin typeface="맑은 고딕"/>
              </a:rPr>
              <a:t>Cheonan Balance Compass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3520440"/>
            <a:ext cx="5120640" cy="4114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376732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1">
                <a:solidFill>
                  <a:srgbClr val="E9EDF2"/>
                </a:solidFill>
                <a:latin typeface="맑은 고딕"/>
              </a:rPr>
              <a:t>원도심 쇠퇴를 3년 먼저 경보하고,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2300" b="1">
                <a:solidFill>
                  <a:srgbClr val="E9EDF2"/>
                </a:solidFill>
                <a:latin typeface="맑은 고딕"/>
              </a:rPr>
              <a:t>생활SOC 예산의 투입 순서를 정하는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지정과제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③ 지역균형발전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응모분야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AI 모델 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23036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1">
                <a:solidFill>
                  <a:srgbClr val="6E7B8C"/>
                </a:solidFill>
                <a:latin typeface="맑은 고딕"/>
              </a:rPr>
              <a:t>분석단위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54864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25개 생활권 · 지표 11종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97A8"/>
                </a:solidFill>
                <a:latin typeface="맑은 고딕"/>
              </a:rPr>
              <a:t>○○팀 · 홍길동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447" y="614476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1">
                <a:solidFill>
                  <a:srgbClr val="C98A1E"/>
                </a:solidFill>
                <a:latin typeface="맑은 고딕"/>
              </a:rPr>
              <a:t>※ 일부 지표 예시 데이터 — 실데이터 재실행 후 제출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한 장으로 보는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천안의 이중격차를 진단하고, 다음에 무너질 곳을 예측하며, 예산 투입 순서를 정한다.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84831"/>
            <a:ext cx="2615184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084831"/>
            <a:ext cx="68580" cy="129844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267712"/>
            <a:ext cx="21579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D6874"/>
                </a:solidFill>
                <a:latin typeface="맑은 고딕"/>
              </a:rPr>
              <a:t>격차 배율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23744"/>
            <a:ext cx="215798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1">
                <a:solidFill>
                  <a:srgbClr val="151C26"/>
                </a:solidFill>
                <a:latin typeface="맑은 고딕"/>
              </a:rPr>
              <a:t>1.79배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21579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신도심 84.2 vs 원도심 47.1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084831"/>
            <a:ext cx="2615184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56432" y="2084831"/>
            <a:ext cx="68580" cy="1298448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12464" y="2267712"/>
            <a:ext cx="21579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D6874"/>
                </a:solidFill>
                <a:latin typeface="맑은 고딕"/>
              </a:rPr>
              <a:t>불균등도(지니)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2464" y="2523744"/>
            <a:ext cx="215798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1">
                <a:solidFill>
                  <a:srgbClr val="151C26"/>
                </a:solidFill>
                <a:latin typeface="맑은 고딕"/>
              </a:rPr>
              <a:t>0.306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2944368"/>
            <a:ext cx="21579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25개 생활권 CBI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2084831"/>
            <a:ext cx="2615184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54496" y="2084831"/>
            <a:ext cx="68580" cy="1298448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8" y="2267712"/>
            <a:ext cx="21579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D6874"/>
                </a:solidFill>
                <a:latin typeface="맑은 고딕"/>
              </a:rPr>
              <a:t>조기경보 정확도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523744"/>
            <a:ext cx="215798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1">
                <a:solidFill>
                  <a:srgbClr val="151C26"/>
                </a:solidFill>
                <a:latin typeface="맑은 고딕"/>
              </a:rPr>
              <a:t>데이터 대기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944368"/>
            <a:ext cx="21579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다른 연도 인구 파일 투입 시 활성화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084831"/>
            <a:ext cx="2615184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9052560" y="2084831"/>
            <a:ext cx="68580" cy="1298448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08592" y="2267712"/>
            <a:ext cx="21579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D6874"/>
                </a:solidFill>
                <a:latin typeface="맑은 고딕"/>
              </a:rPr>
              <a:t>투자 수혜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523744"/>
            <a:ext cx="2157984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1">
                <a:solidFill>
                  <a:srgbClr val="151C26"/>
                </a:solidFill>
                <a:latin typeface="맑은 고딕"/>
              </a:rPr>
              <a:t>32,822명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2944368"/>
            <a:ext cx="21579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12개소 · 커버리지 +7.1%p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" y="3675887"/>
            <a:ext cx="355701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D64545"/>
                </a:solidFill>
                <a:latin typeface="맑은 고딕"/>
              </a:rPr>
              <a:t>문제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한 도시 안의 이중격차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서북부 신도심은 팽창하는데 동남부 원도심은 비어간다.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그런데 재생·SOC 사업지 선정은 여전히 정성평가와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사후 대응에 의존한다.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398264" y="3675887"/>
            <a:ext cx="355701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54296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2E7DD1"/>
                </a:solidFill>
                <a:latin typeface="맑은 고딕"/>
              </a:rPr>
              <a:t>해법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54296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진단 → 예측 → 처방 3-엔진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54296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12개 지표를 엔트로피 가중으로 합성해 격차를 계량하고,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LightGBM으로 3년 후 쇠퇴를 경보하며,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MCLP 최적화로 투자 우선순위를 산출한다.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3675887"/>
            <a:ext cx="3557016" cy="23957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138160" y="3675887"/>
            <a:ext cx="355701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94192" y="3913632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3E9B7C"/>
                </a:solidFill>
                <a:latin typeface="맑은 고딕"/>
              </a:rPr>
              <a:t>성과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41879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51C26"/>
                </a:solidFill>
                <a:latin typeface="맑은 고딕"/>
              </a:rPr>
              <a:t>예산 집행 근거가 되는 산출물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791456"/>
            <a:ext cx="3063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생활권별 CBI·쇠퇴단계, 3년 후 위험도와 SHAP 요인분해,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12개소 투자 순위표. 모두 스크립트 한 줄로 재현된다.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천안은 한 도시 안에 두 개의 시간이 흐른다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수도권 전철·KTX와 산업단지를 축으로 서북부가 팽창하는 사이, 동남부 원도심과 농촌면은 반대로 움직였다.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548640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50976" y="243230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데이터가 말하는 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52928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1.79배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2004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신도심 평균 CBI 84.2 vs 원도심 평균 47.1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566160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0.306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391363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25개 생활권 CBI 지니계수 — 변동계수 54.7%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279392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불당동 ↔ 광덕면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462686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최상위 96점 ↔ 최하위 8점, 같은 시(市)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4992624"/>
            <a:ext cx="2331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D64545"/>
                </a:solidFill>
                <a:latin typeface="맑은 고딕"/>
              </a:rPr>
              <a:t>0개 생활권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5340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군집분석상 이미 "쇠퇴" 단계로 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64807" y="2212848"/>
            <a:ext cx="5074920" cy="35661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39128" y="2432304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왜 지금 개입해야 하는가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28712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3448" y="2871216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쇠퇴는 임계점을 넘으면 되돌리기 어렵다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145536"/>
            <a:ext cx="4251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상권이 비면 유동인구가 줄고, 그래서 더 비는 자기강화 고리가 작동한다.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이미 무너진 뒤 투입하는 예산은 같은 돈으로 훨씬 적은 효과를 낸다.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35230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52300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현행 선정 방식은 이 시점을 못 잡는다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797320"/>
            <a:ext cx="4251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민원·정성평가는 '이미 나빠진 곳'을 뒤늦게 가리킨다.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필요한 것은 아직 안 나빠졌지만 곧 나빠질 곳을 찾는 선행지표다.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417478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4174784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천안은 그 실험에 가장 적합한 도시다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8" y="4449104"/>
            <a:ext cx="4251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신도심·기성시가지·원도심·읍·농촌면이 한 시(市) 안에 모두 있어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유형별 처방을 동시에 검증할 수 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무엇을 바꾸는가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아이디어의 핵심은 새로운 데이터가 아니라, 의사결정의 네 가지 지점을 바꾸는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95728"/>
          <a:ext cx="10874958" cy="1531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888"/>
                <a:gridCol w="3838220"/>
                <a:gridCol w="4637850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C26"/>
                          </a:solidFill>
                          <a:latin typeface="맑은 고딕"/>
                        </a:rPr>
                        <a:t>의사결정 지점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C26"/>
                          </a:solidFill>
                          <a:latin typeface="맑은 고딕"/>
                        </a:rPr>
                        <a:t>현행 방식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51C26"/>
                          </a:solidFill>
                          <a:latin typeface="맑은 고딕"/>
                        </a:rPr>
                        <a:t>CBC 제안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사업지 선정 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정성평가·민원·경험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11개 지표 엔트로피 가중 정량지수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개입 시점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쇠퇴가 확정된 뒤 사후 대응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3년 선행 쇠퇴 경보(조기 개입)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예산 배분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지역별 총액 안분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한계효용 기반 투입 순서 산출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설명 책임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선정 사유를 사후 서술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151C26"/>
                          </a:solidFill>
                          <a:latin typeface="맑은 고딕"/>
                        </a:rPr>
                        <a:t>SHAP 요인분해로 근거 자동 생성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4224528"/>
            <a:ext cx="10874959" cy="13716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78407" y="4443984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51C26"/>
                </a:solidFill>
                <a:latin typeface="맑은 고딕"/>
              </a:rPr>
              <a:t>핵심 주장 — 우리는 '더 많은 데이터'가 아니라 '같은 데이터로 더 이른 시점에, 순서를 매겨' 쓰자고 제안한다.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7" y="4864608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D6874"/>
                </a:solidFill>
                <a:latin typeface="맑은 고딕"/>
              </a:rPr>
              <a:t>천안시가 이미 접근 가능한 공공데이터만으로 세 가지 산출물(격차지수·조기경보·투자순위표)을 만들 수 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50" b="0">
                <a:solidFill>
                  <a:srgbClr val="5D6874"/>
                </a:solidFill>
                <a:latin typeface="맑은 고딕"/>
              </a:rPr>
              <a:t>추가 데이터 구매나 신규 센서 설치 없이, 스크립트 한 줄로 매년 갱신되는 상시 진단체계가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3-엔진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공공데이터 입력부터 정책 산출물까지 단일 스크립트로 연결된다.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432304"/>
            <a:ext cx="2048256" cy="68580"/>
          </a:xfrm>
          <a:prstGeom prst="rect">
            <a:avLst/>
          </a:prstGeom>
          <a:solidFill>
            <a:srgbClr val="5D6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5D6874"/>
                </a:solidFill>
                <a:latin typeface="맑은 고딕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공공데이터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주민등록 인구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LOCALDATA 인허가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상가정보·생활SOC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빈집·버스정류장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962656" y="2432304"/>
            <a:ext cx="2048256" cy="6858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45536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D64545"/>
                </a:solidFill>
                <a:latin typeface="맑은 고딕"/>
              </a:rPr>
              <a:t>① DIAGNOSE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진단 엔진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45536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엔트로피 가중 CBI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K-means 유형화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5대 도메인 분해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66944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66944" y="2432304"/>
            <a:ext cx="2048256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449824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2E7DD1"/>
                </a:solidFill>
                <a:latin typeface="맑은 고딕"/>
              </a:rPr>
              <a:t>② PREDICT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4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예측 엔진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9824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LightGBM 회귀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Leave-One-Zone-Out CV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SHAP 요인분해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71232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571232" y="2432304"/>
            <a:ext cx="2048256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54112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3E9B7C"/>
                </a:solidFill>
                <a:latin typeface="맑은 고딕"/>
              </a:rPr>
              <a:t>③ PRESCRIBE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54112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처방 엔진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MCLP 탐욕 최적화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형평성 제약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한계효용 곡선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37776" y="3401568"/>
            <a:ext cx="237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B8C0CA"/>
                </a:solidFill>
                <a:latin typeface="맑은 고딕"/>
              </a:rPr>
              <a:t>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0" y="2432304"/>
            <a:ext cx="2048256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875520" y="2432304"/>
            <a:ext cx="2048256" cy="68580"/>
          </a:xfrm>
          <a:prstGeom prst="rect">
            <a:avLst/>
          </a:prstGeom>
          <a:solidFill>
            <a:srgbClr val="151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058400" y="2633472"/>
            <a:ext cx="17282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151C26"/>
                </a:solidFill>
                <a:latin typeface="맑은 고딕"/>
              </a:rPr>
              <a:t>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2907792"/>
            <a:ext cx="172821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정책 산출물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310128"/>
            <a:ext cx="1728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생활권 CBI 지도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3년 후 위험 경보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투자 우선순위표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047488"/>
            <a:ext cx="10874959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7" y="5248656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① 재현성 — 모든 단계가 공개 스크립트(`python3 src/run_all.py`)로 동일 재현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250" b="0">
                <a:solidFill>
                  <a:srgbClr val="151C26"/>
                </a:solidFill>
                <a:latin typeface="맑은 고딕"/>
              </a:rPr>
              <a:t>설계 원칙 ② 정직성 — 실데이터/예시데이터 상태를 로그·산출물에 항상 표기해 오인 제출을 차단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활용 데이터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전부 정식 공공 포털에서 합법적으로 내려받은 파일이며, 개인식별정보를 포함하지 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2304288"/>
          <a:ext cx="10874957" cy="21442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16"/>
                <a:gridCol w="1472650"/>
                <a:gridCol w="1699212"/>
                <a:gridCol w="2945301"/>
                <a:gridCol w="2492178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제공기관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출처 URL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주요 컬럼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51C26"/>
                          </a:solidFill>
                          <a:latin typeface="맑은 고딕"/>
                        </a:rPr>
                        <a:t>산출 지표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주민등록 인구통계(연령별)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jumin.mois.go.kr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행정구역, 총인구수, 연령대별 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인구증감률·청년비율·고령비율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지방행정 인허가데이터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행정안전부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localdata.go.kr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인허가일자, 폐업일자, 영업상태명, 소재지주소, 업태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 순증감·폐업률·업종다양성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 상가(상권)정보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소상공인시장진흥공단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상권업종분류, 행정동명,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사업체밀도·생활편의시설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표준데이터 6종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공공데이터포털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data.go.kr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시설명, 소재지주소, 위경도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생활SOC 접근성·인구당 SOC수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 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통계청 / 한국부동산원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kosis.kr / emptyhomes.kr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시군구, 빈집수, 빈집사유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빈집률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버스정류소 현황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천안시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cheonan.go.kr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정류소명, 소재지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51C26"/>
                          </a:solidFill>
                          <a:latin typeface="맑은 고딕"/>
                        </a:rPr>
                        <a:t>정류장 밀도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43984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수집 시점 및 데이터 상태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754880"/>
          <a:ext cx="10874956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266"/>
                <a:gridCol w="1536678"/>
                <a:gridCol w="4019006"/>
                <a:gridCol w="4019006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지표군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인구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실데이터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행안부 주민등록 인구통계(jumin.mois.go.kr)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2026년 단일시점, 25개 생활권, 연령기준 2026년07월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상권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data/raw/localdata_license*.csv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생활SOC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data/raw/facility_*.csv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data/raw/vacant_house.csv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이동성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예시(미투입)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예시 생성(seed=20260836)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data/raw/bus_stop.csv 투입 시 자동 대체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분석 공간단위를 25개 '생활권'으로 재설계한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데이터마다 공간 키가 달라서 생기는 오차를, 지표를 만들기 전에 먼저 제거했다.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525780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문제 — 공간 키 불일치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주민등록 인구통계는 행정동 기준 (성정1동 / 성정2동)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인허가·상가정보는 주소 문자열 = 법정동 기준 (성정동 하나)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주소만으로는 성정동 점포를 1동·2동으로 나눌 근거가 없다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2331720"/>
            <a:ext cx="5303520" cy="1572768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10528" y="254203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해결 — 1:1 대응이 되는 수준까지 통합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889504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성정1·2동 → 성정동 / 쌍용1·2·3동 → 쌍용동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원성1·2동 → 원성동 / 불당1·2동 → 불당동 / 부성1·2동 → 부성동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· 결과: 31개 행정동 → 분석 가능한 25개 생활권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1605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이 단계가 중요한가 — 생태학적 오류(ecological fallacy)의 사전 차단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526280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5D6874"/>
                </a:solidFill>
                <a:latin typeface="맑은 고딕"/>
              </a:rPr>
              <a:t>공간 키가 다른 데이터를 억지로 맞추려면 인구 비례 안분 같은 가정을 넣어야 하는데, 그 가정이 틀리면 지표 전체가 조용히 오염된다. 특히 격차 분석은 '어느 동이 더 나쁜가'를 다투는 작업이라, 배분 오차가 곧 결론의 오차가 된다.</a:t>
            </a:r>
          </a:p>
          <a:p>
            <a:pPr algn="l">
              <a:lnSpc>
                <a:spcPct val="160000"/>
              </a:lnSpc>
              <a:spcBef>
                <a:spcPts val="0"/>
              </a:spcBef>
            </a:pPr>
            <a:r>
              <a:rPr sz="1250" b="0">
                <a:solidFill>
                  <a:srgbClr val="5D6874"/>
                </a:solidFill>
                <a:latin typeface="맑은 고딕"/>
              </a:rPr>
              <a:t>우리는 정밀도를 조금 포기하는 대신 배분 가정을 아예 쓰지 않는 쪽을 택했다. 25개 생활권은 천안시 생활권계획·주민센터 관할과도 대체로 일치해 정책 집행 단위로도 그대로 쓸 수 있다.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58368" y="5532120"/>
          <a:ext cx="10874958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493"/>
                <a:gridCol w="9062465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권역유형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소속 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기성시가지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신안동, 성정동, 쌍용동, 청룡동, 신방동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농촌면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병천면, 입장면, 풍세면, 성남면, 북면, 동면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신도심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불당동, 부성동, 백석동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원도심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일봉동, 문성동, 봉명동, 중앙동, 원성동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읍지역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직산읍, 목천읍, 성거읍, 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METHOD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엔진 — 엔트로피 가중 균형발전지수(CBI)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가중치를 연구자가 정하지 않는다. 데이터의 변별력에서 가중치를 유도한다.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5대 도메인 · 11개 지표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670048"/>
            <a:ext cx="68580" cy="43891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883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인구활력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1408" y="27157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5년 인구증감률 · 청년비율 · 고령비율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236976"/>
            <a:ext cx="68580" cy="4389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325526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경제활력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32826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인구천명당 사업체수 · 상권 순증감 · 폐업률 · 업종 다양성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803904"/>
            <a:ext cx="68580" cy="438912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" y="3822191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생활SOC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1408" y="384962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생활SOC 접근성(중력모형) · 인구천명당 SOC수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370831"/>
            <a:ext cx="68580" cy="438912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" y="43891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21408" y="4416551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빈집 추정률 · 노후(30년+) 건물 비율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937760"/>
            <a:ext cx="68580" cy="438912"/>
          </a:xfrm>
          <a:prstGeom prst="rect">
            <a:avLst/>
          </a:prstGeom>
          <a:solidFill>
            <a:srgbClr val="8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77824" y="49560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이동성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21408" y="49834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km²당 버스정류장 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64807" y="2286000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39128" y="25054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왜 엔트로피 가중법인가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128" y="287121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D64545"/>
                </a:solidFill>
                <a:latin typeface="Consolas"/>
              </a:rPr>
              <a:t>pⱼ = zⱼ / Σzⱼ    eⱼ = −k·Σ pⱼ ln pⱼ    wⱼ ∝ (1 − eⱼ)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128" y="3401568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생활권 간 차이를 잘 벌리는 지표일수록(=엔트로피가 낮을수록) 큰 가중치를 받는다.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전문가 설문·AHP 방식과 달리 사람이 개입하지 않아 누가 돌려도 같은 값이 나온다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지표가 추가·제외돼도 가중치가 자동 재배분되어 지수가 계속 유효하다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50" b="0">
                <a:solidFill>
                  <a:srgbClr val="5D6874"/>
                </a:solidFill>
                <a:latin typeface="맑은 고딕"/>
              </a:rPr>
              <a:t>· 심사·감사 과정에서 '왜 이 가중치인가'를 수식 한 줄로 답할 수 있다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9612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79008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정직성 장치 — 데이터가 없어 산출 불가한 지표는 임의값으로 채우지 않고 지수에서 제외하며,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제외 사실을 로그와 산출물에 남긴다. 결측을 평균으로 메워 순위를 왜곡하는 흔한 실수를 구조적으로 막는다.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진단 결과 — 25개 생활권 CBI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최상위 불당동 96점, 최하위 광덕면 8점. 같은 시(市) 안의 격차다.</a:t>
            </a:r>
          </a:p>
        </p:txBody>
      </p:sp>
      <p:pic>
        <p:nvPicPr>
          <p:cNvPr id="5" name="Picture 4" descr="01_CBI_랭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529" y="2084831"/>
            <a:ext cx="4532477" cy="4114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33488" y="2148840"/>
            <a:ext cx="41605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333488" y="2148840"/>
            <a:ext cx="68580" cy="10241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589519" y="2331720"/>
            <a:ext cx="3703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D6874"/>
                </a:solidFill>
                <a:latin typeface="맑은 고딕"/>
              </a:rPr>
              <a:t>신도심 ↔ 원도심 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587752"/>
            <a:ext cx="3703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1">
                <a:solidFill>
                  <a:srgbClr val="151C26"/>
                </a:solidFill>
                <a:latin typeface="맑은 고딕"/>
              </a:rPr>
              <a:t>1.79배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19" y="2734056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84.2 vs 47.1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3291840"/>
            <a:ext cx="41605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333488" y="3291840"/>
            <a:ext cx="68580" cy="1024128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89519" y="3474720"/>
            <a:ext cx="3703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D6874"/>
                </a:solidFill>
                <a:latin typeface="맑은 고딕"/>
              </a:rPr>
              <a:t>CBI 지니계수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19" y="3730752"/>
            <a:ext cx="3703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1">
                <a:solidFill>
                  <a:srgbClr val="151C26"/>
                </a:solidFill>
                <a:latin typeface="맑은 고딕"/>
              </a:rPr>
              <a:t>0.306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3877056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변동계수 54.7%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4434840"/>
            <a:ext cx="41605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33488" y="4434840"/>
            <a:ext cx="68580" cy="1024128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589519" y="4617720"/>
            <a:ext cx="3703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5D6874"/>
                </a:solidFill>
                <a:latin typeface="맑은 고딕"/>
              </a:rPr>
              <a:t>군집 유형화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4873752"/>
            <a:ext cx="3703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1">
                <a:solidFill>
                  <a:srgbClr val="151C26"/>
                </a:solidFill>
                <a:latin typeface="맑은 고딕"/>
              </a:rPr>
              <a:t>3개 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5020056"/>
            <a:ext cx="3703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실루엣 계수 0.336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5650992"/>
            <a:ext cx="4160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쇠퇴단계는 CBI 순위가 아니라 12개 지표의 다차원 패턴으로 분류한다.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CBI가 조금 높아도 쇠퇴 패턴이면 낮은 단계로 잡힌다.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핵심 발견 — 같은 '낙후'인데 처방은 정반대여야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원도심과 농촌면은 CBI가 모두 낮다. 그런데 도메인을 뜯어보면 원인이 완전히 다르다.</a:t>
            </a:r>
          </a:p>
        </p:txBody>
      </p:sp>
      <p:pic>
        <p:nvPicPr>
          <p:cNvPr id="5" name="Picture 4" descr="02_도메인_히트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606" y="2157984"/>
            <a:ext cx="5678362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53528" y="2157984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91272" y="2359152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원도심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2670048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생활SOC는 이미 갖췄다.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무너진 건 경제활력과 인구활력이다.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시설을 더 짓는 게 아니라, 비어 있는 공간을 다시 쓰게 만드는 처방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53528" y="3858768"/>
            <a:ext cx="3840480" cy="1572768"/>
          </a:xfrm>
          <a:prstGeom prst="roundRect">
            <a:avLst>
              <a:gd name="adj" fmla="val 6000"/>
            </a:avLst>
          </a:prstGeom>
          <a:solidFill>
            <a:srgbClr val="F3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91272" y="4059936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6B5F9E"/>
                </a:solidFill>
                <a:latin typeface="맑은 고딕"/>
              </a:rPr>
              <a:t>농촌면 · 읍지역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1272" y="4370832"/>
            <a:ext cx="33832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생활SOC 자체가 없다.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이동성 점수는 사실상 바닥이다.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→ 거점 복합 SOC 신설과 수요응답형 교통 연계가 먼저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59552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정책적 함의 — 현행처럼 '낙후지역'을 한 덩어리로 묶어 같은 사업을 배분하면, 두 지역 모두에서 예산이 헛돈다.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CBC는 낙후의 유형을 구분해 주므로, 같은 예산으로 각각에 맞는 사업을 고를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격차는 수렴하지 않고 벌어지고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권역유형별 인구·사업체 궤적이 시간이 갈수록 분기한다. 개입하지 않으면 자동으로 좁혀지지 않는다.</a:t>
            </a:r>
          </a:p>
        </p:txBody>
      </p:sp>
      <p:pic>
        <p:nvPicPr>
          <p:cNvPr id="5" name="Picture 4" descr="03_격차추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187" y="2286000"/>
            <a:ext cx="8071319" cy="3200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5650992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833872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이 그림이 조기경보 엔진의 출발점이다 — 추세가 이미 갈라졌다면, 다음에 갈라질 곳도 지금의 구조에서 읽어낼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예측 엔진 — 쇠퇴 조기경보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'이미 나빠진 곳'이 아니라 '곧 나빠질 곳'을 찾는 것이 이 모델의 목적이다.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331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문제 정의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06039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t년 시점에 관측 가능한 정보만으로 t+3년 쇠퇴위험도를 예측한다.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예산 편성이 1년, 사업 착수가 1~2년 걸리므로 3년은 실제 개입 가능한 최소 선행폭이다.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07238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723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모델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46703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LightGBM 회귀 — 지표 수 대비 표본이 적어 규제를 강하게 걸고 얕은 트리를 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8130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813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검증 — Leave-One-Zone-Out CV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08736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같은 생활권이 학습·검증에 동시에 들어가지 않게 한다. 공간 자기상관 때문에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100" b="0">
                <a:solidFill>
                  <a:srgbClr val="5D6874"/>
                </a:solidFill>
                <a:latin typeface="맑은 고딕"/>
              </a:rPr>
              <a:t>무작위 분할을 쓰면 성능이 부풀려지는데, 이를 원천 차단한 설계다.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5371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5537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해석 — SHAP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2803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생활권마다 위험을 밀어올린 요인을 분해한다. 모델 출력이 곧 사업 제안서의 근거가 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0568" y="2331720"/>
            <a:ext cx="47091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04888" y="2560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성능 (현재 데이터 기준)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4888" y="29626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검증 방식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29626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Leave-One-Zone-Out 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4888" y="34015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모드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340156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패널 t → t+3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840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R²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8" y="3840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— (데이터 대기)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279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42793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718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D6874"/>
                </a:solidFill>
                <a:latin typeface="맑은 고딕"/>
              </a:rPr>
              <a:t>베이스라인 대비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25128" y="47183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5230368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베이스라인은 '현 상태가 그대로 간다'는 가정. 이를 이겨야 예측 가치가 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779008"/>
            <a:ext cx="10874959" cy="56692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925312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데이터 상황에 따라 모드가 자동 전환된다 — 개·폐업 시계열이 확보되면 패널 예측(t→t+3)으로, 없으면 구조지표 횡단면 모드로 돌아간다.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예측 결과 — 다음 3년, 어디를 봐야 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대각선 위쪽은 현재보다 위험이 더 올라갈 것으로 예측된 생활권이다.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61888" y="5029200"/>
            <a:ext cx="5577840" cy="822960"/>
          </a:xfrm>
          <a:prstGeom prst="roundRect">
            <a:avLst>
              <a:gd name="adj" fmla="val 6000"/>
            </a:avLst>
          </a:prstGeom>
          <a:solidFill>
            <a:srgbClr val="FD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190488" y="5193792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151C26"/>
                </a:solidFill>
                <a:latin typeface="맑은 고딕"/>
              </a:rPr>
              <a:t>예측 엔진 미실행 — 인구증감률(정답변수)이 단일 시점이라 변동이 없습니다. 다른 연도의 주민등록 인구 파일을 data/raw/pop_jumin_2.csv 로 추가하면 조기경보 모델이 활성화됩니다.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처방 엔진 — 생활SOC 투자 우선순위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'얼마를 줄 것인가'가 아니라 '어디부터 지을 것인가'를 푼다.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51C26"/>
                </a:solidFill>
                <a:latin typeface="맑은 고딕"/>
              </a:rPr>
              <a:t>MCLP — 최대커버링 입지문제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633472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D64545"/>
                </a:solidFill>
                <a:latin typeface="Consolas"/>
              </a:rPr>
              <a:t>max  Σ  dᵢ · yᵢ      s.t.  yᵢ ≤ Σ xⱼ ,  Σ xⱼ = p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1">
                <a:solidFill>
                  <a:srgbClr val="D64545"/>
                </a:solidFill>
                <a:latin typeface="Consolas"/>
              </a:rPr>
              <a:t>        i∈수요격자                    j∈Nᵢ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31012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31012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수요 dᵢ — 취약가중 인구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584448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격자별 인구에 고령화율과 CBI 열위를 가중해, 같은 1명이라도 취약한 지역의 1명을 더 크게 센다.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635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0635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커버 Nᵢ — 반경 1.0km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280672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도보 15분권. '15분 도시' 개념과 맞추고, 행정경계를 넘는 이용도 그대로 반영한다.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70257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702576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후보지 xⱼ — 빈집·노후 밀집 격자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976896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새 땅을 사는 대신 이미 비어 있는 공간을 후보로 둔다. 도시재생 사업과 그대로 접속된다.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39880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3988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탐욕 근사의 보장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567312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5D6874"/>
                </a:solidFill>
                <a:latin typeface="맑은 고딕"/>
              </a:rPr>
              <a:t>목적함수가 submodular이므로 탐욕해는 최적해의 (1−1/e)≈63% 이상을 보장한다.</a:t>
            </a:r>
          </a:p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050" b="0">
                <a:solidFill>
                  <a:srgbClr val="5D6874"/>
                </a:solidFill>
                <a:latin typeface="맑은 고딕"/>
              </a:rPr>
              <a:t>정수계획을 풀지 않고도 근거 있는 순서를 즉시 낼 수 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39128" y="2286000"/>
            <a:ext cx="4800600" cy="2788920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13448" y="250545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3E9B7C"/>
                </a:solidFill>
                <a:latin typeface="맑은 고딕"/>
              </a:rPr>
              <a:t>형평성 제약을 넣은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2871216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순수 MCLP는 커버 효율이 가장 높은 한 지역에 예산을 몰아준다. 수학적으로는 옳지만 '균형발전' 사업으로는 성립하지 않는다.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그래서 생활권당 최대 2개소 제약을 걸었다. 총 커버리지는 조금 줄지만, 예산이 여러 생활권에 분산되어 실제 집행 가능한 안이 된다.</a:t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/>
            </a:r>
          </a:p>
          <a:p>
            <a:pPr algn="l">
              <a:lnSpc>
                <a:spcPct val="155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제약 값은 파라미터라, 시 예산 규모에 맞춰 바로 조정할 수 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5193792"/>
            <a:ext cx="4800600" cy="111556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13448" y="5376672"/>
            <a:ext cx="4297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산출물은 '순위 · 생활권 · 시설유형 · 신규 수혜인구 · 커버리지 개선폭'이 적힌 표 한 장이다.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그대로 예산 요구서의 근거 자료가 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처방 결과 — 투자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상위 12개소 우선 투자 시 취약수요 커버리지 +7.1%p, 신규 수혜인구 약 32,822명.</a:t>
            </a:r>
          </a:p>
        </p:txBody>
      </p:sp>
      <p:pic>
        <p:nvPicPr>
          <p:cNvPr id="5" name="Picture 4" descr="07_투자입지_지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95" y="2212848"/>
            <a:ext cx="3654064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79007" y="2212848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AI 추천 투자 순위 (상위 10)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9007" y="2560320"/>
          <a:ext cx="5760715" cy="3369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79"/>
                <a:gridCol w="1280159"/>
                <a:gridCol w="1097279"/>
                <a:gridCol w="1463039"/>
                <a:gridCol w="1280159"/>
              </a:tblGrid>
              <a:tr h="30632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생활권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시설유형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신규 수혜인구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51C26"/>
                          </a:solidFill>
                          <a:latin typeface="맑은 고딕"/>
                        </a:rPr>
                        <a:t>커버리지 개선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4,078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성거읍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7,740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+1.32%p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복지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6,645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+0.82%p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성남면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4,415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+0.53%p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성환읍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1,501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+0.42%p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+0.39%p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북면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의료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763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+0.38%p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풍세면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입장면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보육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1,626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51C26"/>
                          </a:solidFill>
                          <a:latin typeface="맑은 고딕"/>
                        </a:rPr>
                        <a:t>+0.36%p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FINDING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어디서 멈춰도 근거가 남는다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한계효용 체감 곡선이 있으면 예산이 깎여도 '몇 개소까지가 합리적인가'를 답할 수 있다.</a:t>
            </a:r>
          </a:p>
        </p:txBody>
      </p:sp>
      <p:pic>
        <p:nvPicPr>
          <p:cNvPr id="5" name="Picture 4" descr="08_커버리지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366" y="2212848"/>
            <a:ext cx="5833682" cy="3200400"/>
          </a:xfrm>
          <a:prstGeom prst="rect">
            <a:avLst/>
          </a:prstGeom>
        </p:spPr>
      </p:pic>
      <p:pic>
        <p:nvPicPr>
          <p:cNvPr id="6" name="Picture 5" descr="06_SOC_사각지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388514"/>
            <a:ext cx="4023360" cy="28490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실무적 가치 — 예산 심의에서 가장 자주 나오는 질문은 '이걸 왜 이 순서로 하느냐'와 '반만 하면 어떻게 되느냐'다.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이 곡선은 두 질문에 동시에 답한다. 좌측 그림의 좌상단 영역(고령↑·SOC↓)이 최우선 사각지대다.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천안시는 이것을 어떻게 쓰는가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연구 결과가 아니라 연간 행정 사이클에 얹히는 운영 도구로 설계했다.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1371600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도시재생 부서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사업지 선정 · 공모 대응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CBI 하위 생활권과 3년 후 고위험 생활권을 교차해 후보지를 추린다.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국토부 도시재생 공모 신청서의 '쇠퇴도 진단' 항목에 그대로 인용 가능.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286000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36207" y="2286000"/>
            <a:ext cx="68580" cy="137160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92240" y="24505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복지·보건 부서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생활SOC 신설 입지 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54096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투자 우선순위표의 시설유형별 추천 좌표를 그대로 검토안으로 쓴다.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'왜 이 동인가'를 SHAP 요인분해로 설명한다.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3858768"/>
            <a:ext cx="68580" cy="137160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예산 부서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배분 심의 근거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한계효용 곡선으로 사업 규모별 기대효과를 비교한다.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예산 삭감 시 어디까지 유지할지 판단 근거가 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3858768"/>
            <a:ext cx="525780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36207" y="3858768"/>
            <a:ext cx="68580" cy="1371600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0" y="4023359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기획·감사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1596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151C26"/>
                </a:solidFill>
                <a:latin typeface="맑은 고딕"/>
              </a:rPr>
              <a:t>정책 효과 사후검증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매년 같은 스크립트를 돌려 CBI 변화를 추적한다.</a:t>
            </a:r>
          </a:p>
          <a:p>
            <a:pPr algn="l">
              <a:lnSpc>
                <a:spcPct val="145000"/>
              </a:lnSpc>
              <a:spcBef>
                <a:spcPts val="0"/>
              </a:spcBef>
            </a:pPr>
            <a:r>
              <a:rPr sz="1080" b="0">
                <a:solidFill>
                  <a:srgbClr val="5D6874"/>
                </a:solidFill>
                <a:latin typeface="맑은 고딕"/>
              </a:rPr>
              <a:t>투입한 사업이 실제로 지수를 올렸는지 정량 확인한다.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41264"/>
            <a:ext cx="10874959" cy="786384"/>
          </a:xfrm>
          <a:prstGeom prst="roundRect">
            <a:avLst>
              <a:gd name="adj" fmla="val 6000"/>
            </a:avLst>
          </a:prstGeom>
          <a:solidFill>
            <a:srgbClr val="F0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705856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운영 방식 — 연 1회 공공데이터를 갱신하고 스크립트를 실행하면 모든 산출물이 자동으로 재생성된다.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별도 시스템 구축이나 데이터 구매 없이, 담당자 1명이 반나절이면 그 해의 진단을 끝낼 수 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기대효과와 실행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084831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기대효과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468880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예산 효율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커버리지 기준 상위 지점부터 투입 — 같은 예산으로 더 많은 취약수요를 커버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218688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7824" y="3218688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개입 시점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9300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쇠퇴 확정 후 대응 → 3년 선행 경보로 전환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68496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77824" y="3968496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설명 책임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242816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선정 근거를 SHAP 요인분해로 문서화 — 감사·의회 대응 부담 감소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77824" y="4718304"/>
            <a:ext cx="5120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51C26"/>
                </a:solidFill>
                <a:latin typeface="맑은 고딕"/>
              </a:rPr>
              <a:t>행정 비용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926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추가 데이터 구매·시스템 구축 없음 — 스크립트 재실행만으로 연간 갱신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2084831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51C26"/>
                </a:solidFill>
                <a:latin typeface="맑은 고딕"/>
              </a:rPr>
              <a:t>실행 로드맵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2468880"/>
            <a:ext cx="68580" cy="566928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29983" y="246888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E9B7C"/>
                </a:solidFill>
                <a:latin typeface="맑은 고딕"/>
              </a:rPr>
              <a:t>1단계 · 즉시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9983" y="27432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본 스크립트로 천안시 25개 생활권 기준선 진단 확정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10528" y="3218688"/>
            <a:ext cx="68580" cy="566928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29983" y="3218688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2E7DD1"/>
                </a:solidFill>
                <a:latin typeface="맑은 고딕"/>
              </a:rPr>
              <a:t>2단계 · 3개월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9983" y="3493008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내부 행정데이터(인허가 원장·건축물대장·복지수급) 연계로 지표 정밀화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10528" y="3968496"/>
            <a:ext cx="68580" cy="566928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29983" y="396849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3단계 · 6개월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9983" y="4242816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500m 격자 단위로 공간해상도 상향 — 표본 확대로 예측모델 성능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10528" y="4718304"/>
            <a:ext cx="68580" cy="566928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729983" y="471830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D64545"/>
                </a:solidFill>
                <a:latin typeface="맑은 고딕"/>
              </a:rPr>
              <a:t>4단계 · 1년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3" y="4992624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5D6874"/>
                </a:solidFill>
                <a:latin typeface="맑은 고딕"/>
              </a:rPr>
              <a:t>천안시 행정포털 대시보드 내재화, 연 1회 자동 갱신 체계 정착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04688"/>
            <a:ext cx="10874959" cy="82296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687568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51C26"/>
                </a:solidFill>
                <a:latin typeface="맑은 고딕"/>
              </a:rPr>
              <a:t>확장 가능성 — 공간단위 정의(config.py)만 바꾸면 아산·청주 등 다른 도시에 그대로 적용된다.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200" b="0">
                <a:solidFill>
                  <a:srgbClr val="151C26"/>
                </a:solidFill>
                <a:latin typeface="맑은 고딕"/>
              </a:rPr>
              <a:t>'구도심 공동화'는 천안만의 문제가 아니므로, 검증되면 충남 시군 공통 진단도구로 확장할 수 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LIMITATION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알고 있는 한계와 보완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17904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50" b="0">
                <a:solidFill>
                  <a:srgbClr val="5D6874"/>
                </a:solidFill>
                <a:latin typeface="맑은 고딕"/>
              </a:rPr>
              <a:t>모델의 한계를 감추면 정책 도구로 쓸 수 없다. 무엇을 아직 못 하는지 먼저 밝힌다.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86000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2414016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표본 크기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241401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분석 단위가 25개 생활권이라 머신러닝 표본으로는 작다.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706624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500m 격자 단위로 내리면 표본이 수천 개로 늘어난다. 현재는 규제를 강하게 걸고 Leave-One-Zone-Out CV와 베이스라인 비교로 과적합 여부를 확인하고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310128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8368" y="3310128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공간 해상도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2968" y="343814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생활권 내부의 격차(같은 동 안의 편차)는 잡히지 않는다.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2968" y="3730752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집계구·격자 데이터로 전환하면 해결된다. 공간단위 정의만 교체하면 되도록 설계했다.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34256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58368" y="4334256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62272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빈집 데이터 정밀도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446227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빈집 통계는 시군구 단위 공표가 많아 읍면동 배분에 가정이 들어간다.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475488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천안시 빈집실태조사 원자료를 연계하면 가정 없이 대체된다.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358384"/>
            <a:ext cx="10874959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58368" y="5358384"/>
            <a:ext cx="68580" cy="896112"/>
          </a:xfrm>
          <a:prstGeom prst="rect">
            <a:avLst/>
          </a:prstGeom>
          <a:solidFill>
            <a:srgbClr val="C9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4864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C98A1E"/>
                </a:solidFill>
                <a:latin typeface="맑은 고딕"/>
              </a:rPr>
              <a:t>인과 아닌 상관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2968" y="54864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51C26"/>
                </a:solidFill>
                <a:latin typeface="맑은 고딕"/>
              </a:rPr>
              <a:t>본 모델은 쇠퇴를 예측할 뿐, 사업의 인과효과를 증명하지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5779008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80" b="0">
                <a:solidFill>
                  <a:srgbClr val="5D6874"/>
                </a:solidFill>
                <a:latin typeface="맑은 고딕"/>
              </a:rPr>
              <a:t>→ 사업 시행 전후 이중차분(DID) 설계를 붙이면 효과 검증까지 확장 가능하다.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D64545"/>
                </a:solidFill>
                <a:latin typeface="맑은 고딕"/>
              </a:rPr>
              <a:t>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700" b="1">
                <a:solidFill>
                  <a:srgbClr val="151C26"/>
                </a:solidFill>
                <a:latin typeface="맑은 고딕"/>
              </a:rPr>
              <a:t>재현성과 데이터 윤리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58368" y="2121408"/>
            <a:ext cx="5257800" cy="68580"/>
          </a:xfrm>
          <a:prstGeom prst="rect">
            <a:avLst/>
          </a:prstGeom>
          <a:solidFill>
            <a:srgbClr val="3E9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3E9B7C"/>
                </a:solidFill>
                <a:latin typeface="맑은 고딕"/>
              </a:rPr>
              <a:t>재현성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과정이 공개 스크립트로 실행 — `python3 src/run_all.py` 한 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난수 시드 고정(20260831) — 군집·모델 결과가 실행마다 동일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그림 8종·분석표 9종·대시보드가 같은 실행에서 함께 생성됨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3E9B7C"/>
                </a:solidFill>
                <a:latin typeface="맑은 고딕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지표 정의·가중치·모델 파라미터가 전부 코드에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2121408"/>
            <a:ext cx="52578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0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236207" y="2121408"/>
            <a:ext cx="5257800" cy="68580"/>
          </a:xfrm>
          <a:prstGeom prst="rect">
            <a:avLst/>
          </a:prstGeom>
          <a:solidFill>
            <a:srgbClr val="2E7D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10527" y="23408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2E7DD1"/>
                </a:solidFill>
                <a:latin typeface="맑은 고딕"/>
              </a:rPr>
              <a:t>데이터 윤리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7" y="2743200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11696" y="27432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정식 공공데이터 포털에서 내려받은 파일만 사용 — 크롤링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3218688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상업 목적 민간데이터 무단 사용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7" y="3694176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1696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전 지표가 생활권 단위 집계값 — 개인식별정보 미취급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7" y="4169664"/>
            <a:ext cx="1828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2E7DD1"/>
                </a:solidFill>
                <a:latin typeface="맑은 고딕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416966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151C26"/>
                </a:solidFill>
                <a:latin typeface="맑은 고딕"/>
              </a:rPr>
              <a:t>출처·수집시점·컬럼을 `00_데이터_출처.csv` 에 자동 기록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09744"/>
            <a:ext cx="10874959" cy="10515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50976" y="501091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>
                <a:solidFill>
                  <a:srgbClr val="D64545"/>
                </a:solidFill>
                <a:latin typeface="맑은 고딕"/>
              </a:rPr>
              <a:t>실데이터 / 예시데이터 구분 장치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5340096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151C26"/>
                </a:solidFill>
                <a:latin typeface="맑은 고딕"/>
              </a:rPr>
              <a:t>파이프라인은 각 지표가 실데이터인지 예시(illustrative) 값인지를 매 실행마다 판정해 로그·대시보드·본 기획서에 표기한다.</a:t>
            </a:r>
          </a:p>
          <a:p>
            <a:pPr algn="l">
              <a:lnSpc>
                <a:spcPct val="150000"/>
              </a:lnSpc>
              <a:spcBef>
                <a:spcPts val="0"/>
              </a:spcBef>
            </a:pPr>
            <a:r>
              <a:rPr sz="1150" b="0">
                <a:solidFill>
                  <a:srgbClr val="151C26"/>
                </a:solidFill>
                <a:latin typeface="맑은 고딕"/>
              </a:rPr>
              <a:t>예시 데이터를 실측치로 오인해 제출하는 사고를 막기 위한 장치이며, 실데이터를 넣으면 해당 표기가 자동으로 사라진다.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0533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64545"/>
                </a:solidFill>
                <a:latin typeface="맑은 고딕"/>
              </a:rPr>
              <a:t>현재 상태: 실데이터 지표 1/5  ·  제출 전 실데이터 투입 후 재실행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3737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천안 균형발전 나침반(CBC)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8927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50" b="0">
                <a:solidFill>
                  <a:srgbClr val="5D6874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