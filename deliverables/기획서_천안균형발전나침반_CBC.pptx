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8A8A"/>
                </a:solidFill>
                <a:latin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A97A8"/>
                </a:solidFill>
                <a:latin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9EDF2"/>
                </a:solidFill>
                <a:latin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9EDF2"/>
                </a:solidFill>
                <a:latin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25개 생활권 · 지표 12종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</a:rPr>
              <a:t>○○팀 · 홍길동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C98A1E"/>
                </a:solidFill>
                <a:latin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1.71배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신도심 69.7 vs 원도심 40.8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0.292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조기경보 정확도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R² 0.487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베이스라인 대비 MAE 0.2%↓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12개소 · 커버리지 +6.9%p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D64545"/>
                </a:solidFill>
                <a:latin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E7DD1"/>
                </a:solidFill>
                <a:latin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E9B7C"/>
                </a:solidFill>
                <a:latin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1.71배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신도심 평균 CBI 69.7 vs 원도심 평균 40.8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0.292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25개 생활권 CBI 지니계수 — 변동계수 52.0%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불당동 ↔ 광덕면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최상위 79점 ↔ 최하위 8점,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여러 지표가 함께 낮은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712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871216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변화는 서서히, 그러나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145536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상권이 비면 오가는 분이 줄고, 그래서 더 비는 흐름이 생깁니다.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많이 진행된 뒤에 쓰는 예산은 같은 금액으로도 효과가 적습니다.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12563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4125630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4399950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통계가 뚜렷하게 나빠졌을 때는 이미 상당히 진행된 뒤인 경우가 많습니다.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알아차릴 신호가 하나쯤 더 있으면 좋겠다는 생각에서 출발했습니다.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538004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5380045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천안시는 이런 관찰에 좋은 조건을 갖췄습니다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5654365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신도심·기성시가지·원도심·읍·농촌면이 한 시(市) 안에 모두 있어,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동네 유형별로 무엇이 필요한지 함께 살펴볼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12개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D6874"/>
                </a:solidFill>
                <a:latin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D6874"/>
                </a:solidFill>
                <a:latin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D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D6874"/>
                </a:solidFill>
                <a:latin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D64545"/>
                </a:solidFill>
                <a:latin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E7DD1"/>
                </a:solidFill>
                <a:latin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3E9B7C"/>
                </a:solidFill>
                <a:latin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51C26"/>
                </a:solidFill>
                <a:latin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D6874"/>
                </a:solidFill>
                <a:latin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D6874"/>
                </a:solidFill>
                <a:latin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풍세면, 병천면, 입장면,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5대 도메인 · 12개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D64545"/>
                </a:solidFill>
                <a:latin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최상위 불당동 79점, 최하위 광덕면 8점.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29" y="2084831"/>
            <a:ext cx="4532477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1.71배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69.7 vs 40.8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0.292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변동계수 52.0%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실루엣 계수 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606" y="2157984"/>
            <a:ext cx="567836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3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6B5F9E"/>
                </a:solidFill>
                <a:latin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187" y="2286000"/>
            <a:ext cx="807131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65099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83387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 그림이 조기경보 엔진의 출발점이다 — 추세가 이미 갈라졌다면, 다음에 갈라질 곳도 지금의 구조에서 읽어낼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9626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9626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4015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모드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4015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패널 t → t+3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840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R²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0.487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279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279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16.19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718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7183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MAE 0.2% 개선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523036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베이스라인은 '지금 상태가 그대로 간다'는 가정입니다. 이보다 나아야 참고할 가치가 있다고 보았습니다.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28755"/>
            <a:ext cx="5120640" cy="392636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82773"/>
            <a:ext cx="5577840" cy="247533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61888" y="5029200"/>
          <a:ext cx="557783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-8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D64545"/>
                </a:solidFill>
                <a:latin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D64545"/>
                </a:solidFill>
                <a:latin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상위 12개소 우선 투자 시 취약수요 커버리지 +6.9%p,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95" y="2212848"/>
            <a:ext cx="3654064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+1.28%p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+0.4%p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+0.34%p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366" y="2212848"/>
            <a:ext cx="5833682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388514"/>
            <a:ext cx="4023360" cy="28490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고령 비율이 가장 높은 곳은 22으로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98A1E"/>
                </a:solidFill>
                <a:latin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E7DD1"/>
                </a:solidFill>
                <a:latin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표본 크기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분석 단위가 25개 생활권이라 머신러닝 표본으로는 작다.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500m 격자 단위로 내리면 표본이 수천 개로 늘어난다. 현재는 규제를 강하게 걸고 Leave-One-Zone-Out CV와 베이스라인 비교로 과적합 여부를 확인하고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공간 해상도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생활권 내부의 격차(같은 동 안의 편차)는 잡히지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집계구·격자 데이터로 전환하면 해결된다. 공간단위 정의만 교체하면 되도록 설계했다.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빈집 데이터 정밀도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빈집 통계는 시군구 단위 공표가 많아 읍면동 배분에 가정이 들어간다.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천안시 빈집실태조사 원자료를 연계하면 가정 없이 대체된다.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본 모델은 쇠퇴를 예측할 뿐, 사업의 인과효과를 증명하지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사업 시행 전후 이중차분(DID) 설계를 붙이면 효과 검증까지 확장 가능하다.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3E9B7C"/>
                </a:solidFill>
                <a:latin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E7DD1"/>
                </a:solidFill>
                <a:latin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