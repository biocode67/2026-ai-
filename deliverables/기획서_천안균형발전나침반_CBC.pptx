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Segoe UI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Segoe UI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Segoe UI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Segoe UI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Segoe UI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Segoe UI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Segoe UI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Segoe UI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Segoe UI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Segoe UI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Segoe UI"/>
                <a:ea typeface="맑은 고딕"/>
                <a:cs typeface="맑은 고딕"/>
              </a:rPr>
              <a:t>25개 생활권 · 지표 12종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Segoe UI"/>
                <a:ea typeface="맑은 고딕"/>
                <a:cs typeface="맑은 고딕"/>
              </a:rPr>
              <a:t>○○팀 · 홍길동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Segoe UI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1.74배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신도심 76.4 vs 원도심 44.0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0.318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베이스라인 대비 MAE +5.3%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32,822명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12개소 · 커버리지 +7.0%p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1.74배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신도심 평균 CBI 76.4 vs 원도심 평균 44.0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0.318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25개 생활권 CBI 지니계수 — 변동계수 56.5%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불당동 ↔ 수신면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최상위 82점 ↔ 최하위 6점,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0개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여러 지표가 함께 낮은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87121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871216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변화는 서서히, 그러나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145536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많이 진행된 뒤에 쓰는 예산은 같은 금액으로도 효과가 적습니다.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12563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4125630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4399950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통계가 뚜렷하게 나빠졌을 때는 이미 상당히 진행된 뒤인 경우가 많습니다.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미리 알아차릴 신호가 하나쯤 더 있으면 좋겠다는 생각에서 출발했습니다.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538004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5380045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천안시는 이런 관찰에 좋은 조건을 갖췄습니다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5654365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신도심·기성시가지·원도심·읍·농촌면이 한 시(市) 안에 모두 있어,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동네 유형별로 무엇이 필요한지 함께 살펴볼 수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12개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Segoe UI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Segoe UI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Segoe UI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Segoe UI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 생성(seed=20260832)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data/raw/localdata_license*.csv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 생성(seed=20260833)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data/raw/facility_*.csv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 생성(seed=20260834)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data/raw/vacant_house.csv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예시 생성(seed=20260836)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data/raw/bus_stop.csv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신안동, 성정동, 쌍용동,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풍세면, 병천면, 입장면, 성남면, 북면, 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직산읍, 목천읍, 성거읍,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5대 도메인 · 12개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최상위 불당동 82점, 최하위 수신면 6점.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115" y="2084831"/>
            <a:ext cx="4353305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1.74배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76.4 vs 44.0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0.318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변동계수 56.5%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실루엣 계수 0.322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4" y="2157984"/>
            <a:ext cx="4966507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Segoe UI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407" y="2286000"/>
            <a:ext cx="7040880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5년 인구증감률 상위는 12(+158%), 3(+81%)으로,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9.85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+5.3%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-0.02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048" y="2103120"/>
            <a:ext cx="471927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512" y="2103120"/>
            <a:ext cx="557459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상위 12개소 우선 투자 시 취약수요 커버리지 +7.0%p, 신규 수혜인구 약 32,822명.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188" y="2212848"/>
            <a:ext cx="3504678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7,740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4,078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6,645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+0.82%p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+0.59%p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4,415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+0.53%p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1,501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+0.41%p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763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+0.37%p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1,626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1,177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Segoe UI"/>
                          <a:ea typeface="맑은 고딕"/>
                          <a:cs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어디서 멈춰도 근거가 남는다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한계효용 체감 곡선이 있으면 예산이 깎여도 '몇 개소까지가 합리적인가'를 답할 수 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07" y="2212848"/>
            <a:ext cx="3870601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265192"/>
            <a:ext cx="4023360" cy="30957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실무적 가치 — 예산 심의에서 가장 자주 나오는 질문은 '이걸 왜 이 순서로 하느냐'와 '반만 하면 어떻게 되느냐'다.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 곡선은 두 질문에 동시에 답한다. 좌측 그림의 좌상단 영역(고령↑·SOC↓)이 최우선 사각지대다.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Segoe UI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고령 비율이 가장 높은 곳은 22으로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Segoe UI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Segoe UI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Segoe UI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Segoe UI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Segoe UI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Segoe UI"/>
                <a:ea typeface="맑은 고딕"/>
                <a:cs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Segoe UI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