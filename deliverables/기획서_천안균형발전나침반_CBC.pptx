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맑은 고딕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25개 생활권 · 지표 7종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  <a:ea typeface="맑은 고딕"/>
                <a:cs typeface="맑은 고딕"/>
              </a:rPr>
              <a:t>다시봄 · 팀원 이름을 적어주세요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5567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※ 주거, 이동성 지표군 미확보 — 지수에서 제외하고 산출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가장 큰 격차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 MAE -3.7%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204,062명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12개소 · 커버리지 +40.2%p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21024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18304"/>
            <a:ext cx="30449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서북부 신도심이 커지는 동안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동남부 원도심과 농촌면은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반대 방향으로 움직였습니다.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천안시민인데 사시는 곳에 따라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21024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18304"/>
            <a:ext cx="30449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확보된 공공데이터 7개 지표로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여건을 수치화하고,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어느 동네가 어려워질지 살펴본 뒤,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생활SOC를 어디부터 놓으면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21024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18304"/>
            <a:ext cx="30449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지수와 유형, 3년 뒤 전망과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그 이유, 12개소 우선순위표입니다.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스크립트 한 줄이면 매년 새 데이터로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 (권역유형 평균 CBI)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지니계수 — 변동계수 65.5%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불당동 ↔ 동면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72점 ↔ 최하위 2점,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11개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지표가 함께 낮은 '쇠퇴'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7980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79806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변화는 서서히,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072384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67362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67362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947942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통계가 뚜렷해졌을 때는 이미 많이 진행된 뒤인 경우가 많습니다.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45491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4549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천안시는 이런 관찰에 좋은 조건입니다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823500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신도심·기성시가지·원도심·읍·농촌면이 한 시(市) 안에 모두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389120"/>
            <a:ext cx="10874959" cy="138988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572000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데이터는 현장의 경험을 대신할 수 없습니다.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138928"/>
            <a:ext cx="1042416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공공데이터를 넣는 것부터 정책 자료가 나오기까지, 스크립트 하나로 이어집니다.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도메인별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6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475"/>
                <a:gridCol w="1830438"/>
                <a:gridCol w="1399747"/>
                <a:gridCol w="2691821"/>
                <a:gridCol w="2476475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주민등록 인구통계 (연령별 인구현황)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행정구역 · 총인구수 ·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인구증감률 · 청년비율 · 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 · 행정동명 ·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km²당 사업체수 · 업종 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표준데이터 · 상가정보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시설명 · 소재지주소 ·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접근성 · 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95020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※ 주거, 이동성 지표군은 확보하지 못해 지수에서 제외했습니다 — 예시 값으로 채우지 않았습니다.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245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4535424"/>
          <a:ext cx="10874957" cy="1517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350"/>
                <a:gridCol w="1754025"/>
                <a:gridCol w="3741921"/>
                <a:gridCol w="4209661"/>
              </a:tblGrid>
              <a:tr h="2529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실데이터(단위 한계)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상가(상권)정보(data.go.kr)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37,249건 매칭 / 25개 생활권 · 개폐업 시계열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 표준데이터 + 상가정보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상가정보(2653)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 — 지수 제외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통계(천안시 동남구·서북구 단위)를 넣으면 생활권 지표로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 — 지수 제외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 위치(좌표 또는 주소)가 담긴 파일이 필요합니다(노선 현황만으로는 불가)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33087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이 단계가 중요한가 — 잘못된 배분이 결론을 바꾸기 때문입니다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성정동, 신안동, 쌍용동, 신방동, 청룡동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풍세면, 병천면, 입장면, 성남면, 북면, 광덕면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5888736"/>
            <a:ext cx="108749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… 외 3개 (전체는 첨부 분석표 참조)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어떤 지표를 더 중요하게 볼지 저희가 정하지 않았습니다. 데이터에서 자동으로 정해집니다.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5대 도메인 · 확보 3개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8063" y="271576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5년 인구증감률 · 청년(20~39세) 비율 · 고령(65세+) 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상권여건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8063" y="3282696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km2당 사업체수 · 상권 순증감률(개업-폐업) · 폐업률 · 업종 다양성(Shannon)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8063" y="384962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접근성 점수 · 인구천명당 생활SOC수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주거  (미확보)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3" y="4416551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이동성  (미확보)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8063" y="49834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km2당 버스정류장수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5292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÷ Σzⱼ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12724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eⱼ = −k · Σ pⱼ ln pⱼ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340156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wⱼ ∝ (1 − eⱼ)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9128" y="3730752"/>
            <a:ext cx="44805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간 차이를 잘 벌리는 지표일수록 큰 가중치를 받습니다.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사람이 개입하지 않아 누가 돌려도 같은 값이 나옵니다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지표가 늘거나 빠져도 가중치가 자동으로 다시 나뉩니다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'왜 이 가중치인가'를 수식 한 줄로 답할 수 있습니다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2688" y="57607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정직성 장치 — 확보하지 못한 지표는 임의값으로 채우지 않고 지수에서 제외하며, 그 사실을 산출물에 남깁니다.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결측을 평균으로 메워 순위를 왜곡하는 흔한 실수를 구조적으로 막기 위한 장치입니다.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살펴본 결과 — 25개 생활권 CBI 균형발전지수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불당동 72점, 최하위 동면 2점. (3개 도메인 · 7개 지표)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447" y="2084831"/>
            <a:ext cx="4186641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가장 큰 권역 간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변동계수 65.5%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실루엣 계수 0.416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3504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쇠퇴단계는 순위가 아니라 여러 지표의 조합으로 나눕니다.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항목을 나눠 보니 원도심과 농촌면의 사정이 서로 달랐습니다. 원도심은 시설과 상권을 갖췄는데 사람이 빠지고, 농촌면은 전반이 부족합니다.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168" y="2157984"/>
            <a:ext cx="392323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 61 · 상권여건 53 · 인구활력 38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부족한 것은 시설이 아니라 사람입니다.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새로 짓기보다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 16 · 생활SOC 8 · 상권여건 6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특정 항목이 아니라 전반이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시간이 갈수록 서로 다른 방향으로 갈라집니다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권역유형별 인구 궤적이 갈수록 벌어집니다. 그냥 두어서 저절로 좁혀지지는 않는 흐름으로 보입니다.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436" y="2286000"/>
            <a:ext cx="359082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303520"/>
            <a:ext cx="10874959" cy="859536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431536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705856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5년 인구증감률 상위는 풍세면(+158%), 문성동(+81%) — 두 곳 모두 신축 입주가 이어진 지역입니다.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비어 있던 공간이 다시 주거로 쓰이면 사람이 돌아온다는 뜻으로 읽었습니다.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10.79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-3.7%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-0.135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30568" y="5138928"/>
            <a:ext cx="4709160" cy="87782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059168" y="5266944"/>
            <a:ext cx="4297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베이스라인은 '지금과 달라지지 않는다'는 예측입니다.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지금은 방향을 주로 맞히는 수준이고,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변화의 크기까지는 아직입니다(R²가 낮은 이유).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대각선 위쪽에 있는 곳일수록, 지금보다 앞으로 더 살펴볼 필요가 크다는 뜻입니다.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585" y="2139696"/>
            <a:ext cx="453516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59168" y="2139696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위험 상위 6개 생활권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059168" y="2468880"/>
          <a:ext cx="4480556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914399"/>
                <a:gridCol w="914399"/>
                <a:gridCol w="914399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59168" y="4590288"/>
            <a:ext cx="4480560" cy="1316736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296912" y="4773168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표를 어떻게 보면 되나요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96912" y="5047488"/>
            <a:ext cx="402336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숫자는 25개 생활권 중 몇 번째로 위험한지를 0~100으로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  나타낸 값입니다 (100이 가장 위험).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'변화'가 클수록 지금보다 나빠질 것으로 본 곳입니다.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그렇게 봤는지도 함께 보여드립니다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숫자만 있으면 '왜 이 동네인가'를 설명하기 어렵습니다. 어떤 항목이 결과를 끌어올렸는지 나눠서 보여드립니다.</a:t>
            </a:r>
          </a:p>
        </p:txBody>
      </p:sp>
      <p:pic>
        <p:nvPicPr>
          <p:cNvPr id="5" name="Picture 4" descr="05_SHAP_요인분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862" y="2212848"/>
            <a:ext cx="669196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705856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왼쪽은 전체적으로 어떤 항목이 예측에 많이 쓰였는지, 오른쪽은 동네마다 어떤 항목이 위험을 끌어올렸는지입니다.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'고위험'이라도 원인이 달라서, 필요한 도움도 서로 다를 수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49424"/>
            <a:ext cx="5669280" cy="96926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37744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51760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Σᵢ dᵢ·yᵢ      s.t.  yᵢ ≤ Σⱼ∈Nᵢ xⱼ,  Σⱼ xⱼ = 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정해진 개수 안에서 가장 많은 분께 닿는 자리를 고르는 계산입니다.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43814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3814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수요 — 한 사람을 똑같이 세지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12463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고령 비율이 높고 지수가 낮은 동네의 1명을 더 크게 셉니다.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05651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5651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도달 범위 — 반경 1.0km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330832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걸어서 15분 거리입니다. 행정경계를 넘는 이용도 그대로 반영합니다.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6748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67488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후보지 — 빈집·노후 밀집 격자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49200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 땅을 사는 대신 이미 비어 있는 공간을 후보로 둡니다.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2932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2932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근거 — 탐욕해의 품질 보장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567568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문제는 최적해의 63% 이상이 수학적으로 보장되는 형태입니다.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249424"/>
            <a:ext cx="4800600" cy="267004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13448" y="245059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2798064"/>
            <a:ext cx="42976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39128" y="5047488"/>
            <a:ext cx="4800600" cy="96926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13448" y="523036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결과는 '순위 · 생활권 · 시설유형 · 새로 닿는 인구 · 개선폭'이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상위 12개소 우선 투자 시 취약수요 커버리지 +40.2%p, 신규 수혜인구 약 204,062명.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96" y="2212848"/>
            <a:ext cx="380206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26,717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+5.69%p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24,351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+5.11%p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23,066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+4.86%p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21,780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18,133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+4.23%p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17,505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+3.89%p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16,101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+2.97%p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16,248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+2.51%p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10,432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+1.83%p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10,311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어디서 멈춰도 근거가 남습니다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곡선이 있으면 예산이 조정돼도 '몇 개소까지가 합리적인가'를 답할 수 있습니다.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518" y="2212848"/>
            <a:ext cx="3505379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328" y="2212848"/>
            <a:ext cx="3933439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예산 심의에서 자주 나오는 질문은 '왜 이 순서인가'와 '반만 하면 어떻게 되나'입니다.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곡선은 두 질문에 함께 답합니다. 좌측 그림의 좌상단(고령↑·SOC↓)이 먼저 살펴볼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원성동은 인구가 5년 새 -11% 움직였고 고령 비율은 32%입니다.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시설은 가까이 있는데 함께 사시던 이웃이 줄어드는 동네입니다.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동면의 생활SOC 접근성 점수는 0점으로 가장 낮습니다.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문서에 나오는 말 풀이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전문용어를 쓰지 않고는 방법을 설명하기 어려워 몇 개를 썼습니다. 뜻을 한 줄씩 적어 둡니다.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231136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3113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CBI 균형발전지수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505456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지표를 0~100점 하나로 합친 값. 높을수록 생활 여건이 나은 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035808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303580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엔트로피 가중법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310127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어떤 지표를 얼마나 중요하게 볼지 사람이 정하지 않고, 동네 간 차이를 잘 드러내는 지표에 자동으로 더 큰 무게를 주는 방법입니다.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840480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384048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중력모형 접근성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4114800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시설이 멀수록 이용이 줄어든다고 보고 거리에 따라 점수를 매깁니다. 옆 동네 시설도 걸어갈 수 있으면 함께 셉니다.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645152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59536" y="4645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K-means 군집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919472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비슷한 특성을 가진 동네끼리 자동으로 묶는 방법입니다.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449824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9536" y="544982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윈저화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724144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유난히 튀는 값 하나가 전체를 흔들지 않도록 위아래 5%를 경계값으로 눌러 주는 처리입니다.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7" y="2231136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37375" y="223113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LightGBM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5" y="2505456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지표를 조합해 결과를 예측하는 기계학습 모형 중 하나입니다.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7" y="3035808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37375" y="303580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5" y="3310127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 동네를 빼고 학습한 뒤 그 동네를 맞혀 봅니다. 처음 보는 동네에도 통하는지 확인하려는 검증 방식입니다.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7" y="3840480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37375" y="384048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SHAP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5" y="4114800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모형이 왜 그렇게 예측했는지, 어떤 항목이 얼마나 영향을 줬는지 나눠서 보여 주는 기법입니다.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7" y="4645152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7375" y="4645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5" y="4919472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정해진 개수만 지을 수 있을 때 가장 많은 분께 닿는 자리를 고르는 문제입니다.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6207" y="5449824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37375" y="544982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지니계수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5" y="5724144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값이 얼마나 고르게 퍼져 있는지 재는 수치입니다. 0에 가까우면 고르고, 1에 가까우면 한쪽에 쏠려 있다는 뜻입니다.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공개 스크립트 한 줄(python3 src/run_all.py)로 전 과정을 재현합니다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난수 시드를 고정해 군집·모델 결과가 실행할 때마다 같습니다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그림 8종·분석표 9종·대시보드가 같은 실행에서 함께 만들어집니다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지표 정의·가중치·모델 설정이 전부 코드에 적혀 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정식 공공데이터 포털에서 내려받은 파일만 썼습니다 (크롤링 없음)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상업 목적 민간데이터를 무단으로 쓰지 않았습니다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모든 지표가 생활권 단위 집계값이라 개인식별정보를 다루지 않습니다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출처·수집시점·컬럼을 분석표에 자동으로 기록합니다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718304"/>
            <a:ext cx="10874959" cy="1225296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4882896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확보한 데이터만으로 산출합니다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17550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확보하지 못한 지표는 임의값이나 예시 값으로 채우지 않고 지수에서 제외합니다.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매 실행마다 지표별 상태를 판정해 로그·대시보드·기획서에 함께 표기하므로, 이 문서의 어떤 수치도 채워 넣은 값이 아닙니다.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5669280"/>
            <a:ext cx="10424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현재 상태 — 실데이터 지표군 3/5  ·  주거, 이동성은 미확보로 지수에서 제외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