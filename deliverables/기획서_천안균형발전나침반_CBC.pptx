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14173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7FB3EE"/>
                </a:solidFill>
                <a:latin typeface="맑은 고딕"/>
                <a:ea typeface="맑은 고딕"/>
                <a:cs typeface="맑은 고딕"/>
              </a:rPr>
              <a:t>2026년 천안시 AI·데이터 기반 정책 아이디어 경진대회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901952"/>
            <a:ext cx="102412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천안 균형발전 나침반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>
                <a:solidFill>
                  <a:srgbClr val="8894A6"/>
                </a:solidFill>
                <a:latin typeface="맑은 고딕"/>
                <a:ea typeface="맑은 고딕"/>
                <a:cs typeface="맑은 고딕"/>
              </a:rPr>
              <a:t>Cheonan Balance Compass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3520440"/>
            <a:ext cx="51206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1560" y="3767328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300" b="1">
                <a:solidFill>
                  <a:srgbClr val="EAEEF4"/>
                </a:solidFill>
                <a:latin typeface="맑은 고딕"/>
                <a:ea typeface="맑은 고딕"/>
                <a:cs typeface="맑은 고딕"/>
              </a:rPr>
              <a:t>천안시민 누구나 걸어서 닿는 생활환경을 바라며,</a:t>
            </a:r>
          </a:p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2300" b="1">
                <a:solidFill>
                  <a:srgbClr val="EAEEF4"/>
                </a:solidFill>
                <a:latin typeface="맑은 고딕"/>
                <a:ea typeface="맑은 고딕"/>
                <a:cs typeface="맑은 고딕"/>
              </a:rPr>
              <a:t>공공데이터로 먼저 살펴본 균형발전 이야기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  <a:ea typeface="맑은 고딕"/>
                <a:cs typeface="맑은 고딕"/>
              </a:rPr>
              <a:t>지정과제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지역균형발전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  <a:ea typeface="맑은 고딕"/>
                <a:cs typeface="맑은 고딕"/>
              </a:rPr>
              <a:t>응모분야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79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모델 개발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  <a:ea typeface="맑은 고딕"/>
                <a:cs typeface="맑은 고딕"/>
              </a:rPr>
              <a:t>분석단위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25개 생활권 · 지표 7종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614476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97A8"/>
                </a:solidFill>
                <a:latin typeface="맑은 고딕"/>
                <a:ea typeface="맑은 고딕"/>
                <a:cs typeface="맑은 고딕"/>
              </a:rPr>
              <a:t>다시봄 · 팀원 이름을 적어주세요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5567" y="614476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>
                <a:solidFill>
                  <a:srgbClr val="8894A6"/>
                </a:solidFill>
                <a:latin typeface="맑은 고딕"/>
                <a:ea typeface="맑은 고딕"/>
                <a:cs typeface="맑은 고딕"/>
              </a:rPr>
              <a:t>※ 이동성 지표군 미확보 — 지수에서 제외하고 산출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한 장으로 보는 제안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천안시민의 생활여건 차이를 데이터로 살펴보고, 도움이 조금 더 필요한 곳을 먼저 찾아보고자 준비했습니다.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066543"/>
            <a:ext cx="68580" cy="12801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가장 큰 격차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5.2배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신도심 57.7 ↔ 농촌면 11.1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56432" y="2066543"/>
            <a:ext cx="68580" cy="128016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712464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불균등도(지니)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2464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0.365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4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25개 생활권 CBI 기준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4496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254496" y="2066543"/>
            <a:ext cx="68580" cy="12801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10528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조기경보 방향 적중률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66%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베이스라인 대비 MAE -3.7%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9052560" y="2066543"/>
            <a:ext cx="68580" cy="128016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08592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투자 수혜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08592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204,062명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08592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12개소 · 커버리지 +40.2%p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621024"/>
            <a:ext cx="3557016" cy="24140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58368" y="3621024"/>
            <a:ext cx="355701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14400" y="384048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저희가 주목한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114800"/>
            <a:ext cx="3063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한 도시 안에 생긴 생활여건의 차이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718304"/>
            <a:ext cx="3044952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8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서북부 신도심이 커지는 동안</a:t>
            </a:r>
          </a:p>
          <a:p>
            <a:pPr algn="l">
              <a:lnSpc>
                <a:spcPct val="148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동남부 원도심과 농촌면은</a:t>
            </a:r>
          </a:p>
          <a:p>
            <a:pPr algn="l">
              <a:lnSpc>
                <a:spcPct val="148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반대 방향으로 움직였습니다.</a:t>
            </a:r>
          </a:p>
          <a:p>
            <a:pPr algn="l">
              <a:lnSpc>
                <a:spcPct val="148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같은 천안시민인데 사시는 곳에 따라</a:t>
            </a:r>
          </a:p>
          <a:p>
            <a:pPr algn="l">
              <a:lnSpc>
                <a:spcPct val="148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일상의 여건이 달라지고 있었습니다.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98264" y="3621024"/>
            <a:ext cx="3557016" cy="24140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4398264" y="3621024"/>
            <a:ext cx="355701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654296" y="384048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저희가 준비한 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54296" y="4114800"/>
            <a:ext cx="3063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살펴보기 → 미리 알기 → 순서 정하기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54296" y="4718304"/>
            <a:ext cx="3044952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8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확보된 공공데이터 7개 지표로</a:t>
            </a:r>
          </a:p>
          <a:p>
            <a:pPr algn="l">
              <a:lnSpc>
                <a:spcPct val="148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생활권별 여건을 수치화하고,</a:t>
            </a:r>
          </a:p>
          <a:p>
            <a:pPr algn="l">
              <a:lnSpc>
                <a:spcPct val="148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어느 동네가 어려워질지 살펴본 뒤,</a:t>
            </a:r>
          </a:p>
          <a:p>
            <a:pPr algn="l">
              <a:lnSpc>
                <a:spcPct val="148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생활SOC를 어디부터 놓으면</a:t>
            </a:r>
          </a:p>
          <a:p>
            <a:pPr algn="l">
              <a:lnSpc>
                <a:spcPct val="148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좋을지 순서를 제안드립니다.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8160" y="3621024"/>
            <a:ext cx="3557016" cy="24140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8138160" y="3621024"/>
            <a:ext cx="3557016" cy="6858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394192" y="384048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이렇게 쓰이면 좋겠습니다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94192" y="4114800"/>
            <a:ext cx="3063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담당자분께 드리는 근거 자료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4192" y="4718304"/>
            <a:ext cx="3044952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8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생활권별 지수와 유형, 3년 뒤 전망과</a:t>
            </a:r>
          </a:p>
          <a:p>
            <a:pPr algn="l">
              <a:lnSpc>
                <a:spcPct val="148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그 이유, 12개소 우선순위표입니다.</a:t>
            </a:r>
          </a:p>
          <a:p>
            <a:pPr algn="l">
              <a:lnSpc>
                <a:spcPct val="148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스크립트 한 줄이면 매년 새 데이터로</a:t>
            </a:r>
          </a:p>
          <a:p>
            <a:pPr algn="l">
              <a:lnSpc>
                <a:spcPct val="148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다시 만드실 수 있습니다.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한 도시 안에 서로 다른 시간이 흐르고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수도권 전철·KTX와 산업단지를 축으로 서북부가 커지는 사이, 동남부 원도심과 농촌면은 반대 방향으로 움직였습니다.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12848"/>
            <a:ext cx="548640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50976" y="243230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공공데이터로 확인한 차이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852928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5.2배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2004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신도심 57.7 ↔ 농촌면 11.1 (권역유형 평균 CBI)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566160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0.365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391363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25개 생활권 CBI 지니계수 — 변동계수 65.5%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4279392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불당동 ↔ 동면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462686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최상위 72점 ↔ 최하위 2점, 같은 시(市)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4992624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11개 생활권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534009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여러 지표가 함께 낮은 '쇠퇴' 유형으로 분류되었습니다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64807" y="2212848"/>
            <a:ext cx="5074920" cy="356616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739128" y="2432304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왜 지금 살펴보면 좋을까요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2798064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13448" y="2798064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변화는 서서히, 되돌리기는 어렵게 옵니다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13448" y="3072384"/>
            <a:ext cx="4206240" cy="420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상권이 비면 오가는 분이 줄고, 그래서 더 비는 흐름이 생깁니다.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3673622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448" y="3673622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조짐은 눈에 잘 띄지 않습니다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13448" y="3947942"/>
            <a:ext cx="4206240" cy="420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통계가 뚜렷해졌을 때는 이미 많이 진행된 뒤인 경우가 많습니다.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128" y="454918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13448" y="4549180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천안시는 이런 관찰에 좋은 조건입니다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13448" y="4823500"/>
            <a:ext cx="4206240" cy="420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신도심·기성시가지·원도심·읍·농촌면이 한 시(市) 안에 모두 있습니다.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OUR ROLE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저희가 조심스럽게 보태고 싶은 부분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이미 잘 해오고 계신 일들 위에, 공공데이터가 거들 수 있는 자리를 찾아보았습니다.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2395728"/>
          <a:ext cx="10874957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4278"/>
                <a:gridCol w="4660696"/>
                <a:gridCol w="4349983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 장면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이미 하고 계신 일 (가장 중요한 부분)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데이터가 거들 수 있는 일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사업지 검토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현장을 다니며 쌓은 경험과 주민 의견 청취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7개 지표로 계산한 참고용 수치 한 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살펴보는 시점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민원과 현장 변화를 통한 상황 파악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 변화로 미리 살펴보는 3년 뒤 전망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예산 배분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 여건과 형평성을 고려한 배분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 곳 더 지을 때의 효과를 순서대로 계산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선정 사유 설명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필요성에 대한 행정적 판단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판단의 근거 수치를 표로 함께 제시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58368" y="4389120"/>
            <a:ext cx="10874959" cy="138988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78407" y="4572000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데이터는 현장의 경험을 대신할 수 없습니다.</a:t>
            </a:r>
          </a:p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다만 한 번 더 확인해 보는 참고자료는 될 수 있다고 생각합니다.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7" y="5138928"/>
            <a:ext cx="10424160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새로운 데이터를 더 사자는 제안이 아닙니다. 천안시가 이미 쓰실 수 있는 공공데이터만 엮어 세 가지 참고자료를 만들었고,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추가 비용이나 시스템 없이 스크립트 한 줄로 매년 갱신하실 수 있게 준비했습니다.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3-엔진 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공공데이터를 넣는 것부터 정책 자료가 나오기까지, 스크립트 하나로 이어집니다.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432304"/>
            <a:ext cx="2048256" cy="68580"/>
          </a:xfrm>
          <a:prstGeom prst="rect">
            <a:avLst/>
          </a:prstGeom>
          <a:solidFill>
            <a:srgbClr val="525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7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공공데이터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주민등록 인구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상가(상권)정보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생활SOC 표준데이터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빈집 통계(시 단위)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4912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2656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2962656" y="2432304"/>
            <a:ext cx="204825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45536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① DIAGNOSE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45536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진단 엔진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45536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엔트로피 가중 CBI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K-means 유형화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도메인별 분해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66944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66944" y="2432304"/>
            <a:ext cx="204825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449824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② PREDICT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9824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예측 엔진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9824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LightGBM 회귀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Leave-One-Zone-Out CV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SHAP 요인분해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33488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71232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571232" y="2432304"/>
            <a:ext cx="2048256" cy="6858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754112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③ PRESCRIBE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54112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처방 엔진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MCLP 탐욕 최적화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형평성 제약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한계효용 곡선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37776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75520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9875520" y="2432304"/>
            <a:ext cx="2048256" cy="68580"/>
          </a:xfrm>
          <a:prstGeom prst="rect">
            <a:avLst/>
          </a:prstGeom>
          <a:solidFill>
            <a:srgbClr val="121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0058400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OUTPUT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정책 산출물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생활권 CBI 지도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3년 후 위험 경보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투자 우선순위표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047488"/>
            <a:ext cx="10874959" cy="86868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78407" y="5248656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2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설계 원칙 ① 재현성 — 모든 단계가 공개 스크립트(`python3 src/run_all.py`)로 동일 재현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2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설계 원칙 ② 정직성 — 실데이터/예시데이터 상태를 로그·산출물에 항상 표기해 오인 제출을 차단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활용 데이터 명세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전부 정식 공공 포털에서 합법적으로 내려받은 파일이며, 개인식별정보를 포함하지 않는다.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2304288"/>
          <a:ext cx="10874956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6475"/>
                <a:gridCol w="1830438"/>
                <a:gridCol w="1399747"/>
                <a:gridCol w="2691821"/>
                <a:gridCol w="2476475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제공기관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출처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컬럼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 지표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주민등록 인구통계 (연령별 인구현황)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행정안전부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jumin.mois.go.kr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행정구역 · 총인구수 · 연령대별 인구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인구증감률 · 청년비율 · 고령비율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상가(상권)정보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소상공인시장진흥공단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상권업종분류 · 행정동명 · 위경도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km²당 사업체수 · 업종 다양성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상가(상권)정보에서 추출한 생활SOC 시설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소상공인시장진흥공단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상권업종분류 · 행정동명 · 위경도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SOC 접근성 · 인구당 SOC수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국가데이터처_미거주주택(빈집)비율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국가데이터처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kosis.kr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시군구, 빈집수, 빈집비율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빈집률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3822191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※ 이동성 지표군은 확보하지 못해 지수에서 제외했습니다 — 예시 값으로 채우지 않았습니다.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169663"/>
            <a:ext cx="108749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수집 시점 및 데이터 상태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4462272"/>
          <a:ext cx="10874957" cy="15910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9350"/>
                <a:gridCol w="1754025"/>
                <a:gridCol w="3741921"/>
                <a:gridCol w="4209661"/>
              </a:tblGrid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지표군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출처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실데이터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행안부 주민등록 인구통계(jumin.mois.go.kr)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2021~2026년(5년환산), 25개 생활권, 연령기준 2026년07월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실데이터(단위 한계)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소상공인 상가(상권)정보(data.go.kr)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37,249건 매칭 / 25개 생활권 · 개폐업 시계열 없음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생활SOC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실데이터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소상공인 상가(상권)정보에서 생활SOC 시설 추출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상가정보(2653)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실데이터(단위 한계)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KOSIS 미거주주택(빈집)비율(시도/시/군/구)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천안시 전체 10.0% · 27,067호 — 시 단위 단일값이라 배경 수치로만 사용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이동성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미확보 — 지수 제외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정류소 위치(좌표 또는 주소)가 담긴 파일이 필요합니다(노선 현황만으로는 불가)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METHOD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분석 공간단위를 25개 '생활권'으로 재설계한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데이터마다 공간 키가 달라서 생기는 오차를, 지표를 만들기 전에 먼저 제거했다.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5257800" cy="1572768"/>
          </a:xfrm>
          <a:prstGeom prst="roundRect">
            <a:avLst>
              <a:gd name="adj" fmla="val 6000"/>
            </a:avLst>
          </a:prstGeom>
          <a:solidFill>
            <a:srgbClr val="F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54203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문제 — 공간 키 불일치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889504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주민등록 인구통계는 행정동 기준 (성정1동 / 성정2동)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인허가·상가정보는 주소 문자열 = 법정동 기준 (성정동 하나)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주소만으로는 성정동 점포를 1동·2동으로 나눌 근거가 없다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7" y="2331720"/>
            <a:ext cx="5303520" cy="1572768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510528" y="254203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해결 — 1:1 대응이 되는 수준까지 통합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0528" y="2889504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성정1·2동 → 성정동 / 쌍용1·2·3동 → 쌍용동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원성1·2동 → 원성동 / 불당1·2동 → 불당동 / 부성1·2동 → 부성동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결과: 31개 행정동 → 분석 가능한 25개 생활권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133087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왜 이 단계가 중요한가 — 잘못된 배분이 결론을 바꾸기 때문입니다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498848"/>
            <a:ext cx="10874959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공간 키가 다른 데이터를 억지로 맞추려면 인구 비례 안분 같은 가정이 필요한데, 그 가정이 틀리면 지표 전체가 조용히 오염된다.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격차 분석은 '어느 동이 더 나쁜가'를 다투는 작업이라 배분 오차가 곧 결론의 오차가 된다. 정밀도를 조금 포기하는 대신 배분 가정을 아예 쓰지 않는 쪽을 택했다.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58368" y="5138928"/>
          <a:ext cx="1087495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2493"/>
                <a:gridCol w="9062465"/>
              </a:tblGrid>
              <a:tr h="23774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권역유형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소속 생활권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기성시가지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성정동, 신안동, 쌍용동, 신방동, 청룡동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농촌면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풍세면, 병천면, 입장면, 성남면, 북면, 광덕면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58368" y="5888736"/>
            <a:ext cx="1087495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7A7972"/>
                </a:solidFill>
                <a:latin typeface="맑은 고딕"/>
                <a:ea typeface="맑은 고딕"/>
                <a:cs typeface="맑은 고딕"/>
              </a:rPr>
              <a:t>… 외 3개 (전체는 첨부 분석표 참조)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METHOD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진단 엔진 — 엔트로피 가중 균형발전지수(CBI)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어떤 지표를 더 중요하게 볼지 저희가 정하지 않았습니다. 데이터에서 자동으로 정해집니다.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5대 도메인 · 확보 3개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670048"/>
            <a:ext cx="68580" cy="43891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77824" y="2688336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인구활력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98063" y="2715768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5년 인구증감률 · 청년(20~39세) 비율 · 고령(65세+) 비율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236976"/>
            <a:ext cx="68580" cy="4389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77824" y="325526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상권여건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98063" y="3282696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km2당 사업체수 · 상권 순증감률(개업-폐업) · 폐업률 · 업종 다양성(Shannon)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803904"/>
            <a:ext cx="68580" cy="438912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77824" y="3822191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생활SOC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98063" y="3849624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생활SOC 접근성 점수 · 인구천명당 생활SOC수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370831"/>
            <a:ext cx="68580" cy="438912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77824" y="4389119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7A7972"/>
                </a:solidFill>
                <a:latin typeface="맑은 고딕"/>
                <a:ea typeface="맑은 고딕"/>
                <a:cs typeface="맑은 고딕"/>
              </a:rPr>
              <a:t>주거  (미확보)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8063" y="4416551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7A7972"/>
                </a:solidFill>
                <a:latin typeface="맑은 고딕"/>
                <a:ea typeface="맑은 고딕"/>
                <a:cs typeface="맑은 고딕"/>
              </a:rPr>
              <a:t>빈집 추정률 · 노후(30년+) 건물 비율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4937760"/>
            <a:ext cx="68580" cy="438912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77824" y="49560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7A7972"/>
                </a:solidFill>
                <a:latin typeface="맑은 고딕"/>
                <a:ea typeface="맑은 고딕"/>
                <a:cs typeface="맑은 고딕"/>
              </a:rPr>
              <a:t>이동성  (미확보)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98063" y="49834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7A7972"/>
                </a:solidFill>
                <a:latin typeface="맑은 고딕"/>
                <a:ea typeface="맑은 고딕"/>
                <a:cs typeface="맑은 고딕"/>
              </a:rPr>
              <a:t>km2당 버스정류장수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64807" y="2286000"/>
            <a:ext cx="5074920" cy="324612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39128" y="250545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왜 엔트로피 가중법인가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128" y="2852928"/>
            <a:ext cx="43891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pⱼ = zⱼ ÷ Σzⱼ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39128" y="3127248"/>
            <a:ext cx="43891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eⱼ = −k · Σ pⱼ ln pⱼ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39128" y="3401568"/>
            <a:ext cx="43891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wⱼ ∝ (1 − eⱼ)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39128" y="3730752"/>
            <a:ext cx="44805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생활권 간 차이를 잘 벌리는 지표일수록 큰 가중치를 받습니다.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· 사람이 개입하지 않아 누가 돌려도 같은 값이 나옵니다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· 지표가 늘거나 빠져도 가중치가 자동으로 다시 나뉩니다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· '왜 이 가중치인가'를 수식 한 줄로 답할 수 있습니다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5596128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32688" y="57607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정직성 장치 — 확보하지 못한 지표는 임의값으로 채우지 않고 지수에서 제외하며, 그 사실을 산출물에 남깁니다.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결측을 평균으로 메워 순위를 왜곡하는 흔한 실수를 구조적으로 막기 위한 장치입니다.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살펴본 결과 — 25개 생활권 CBI 균형발전지수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최상위 불당동 72점, 최하위 동면 2점. (3개 도메인 · 7개 지표)</a:t>
            </a:r>
          </a:p>
        </p:txBody>
      </p:sp>
      <p:pic>
        <p:nvPicPr>
          <p:cNvPr id="5" name="Picture 4" descr="01_CBI_랭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447" y="2084831"/>
            <a:ext cx="4186641" cy="41148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33488" y="2121408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333488" y="2121408"/>
            <a:ext cx="68580" cy="1225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589519" y="2267712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가장 큰 권역 간 격차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19" y="2505456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5.2배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19" y="2962656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신도심 57.7 ↔ 농촌면 11.1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33488" y="3438144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7333488" y="3438144"/>
            <a:ext cx="68580" cy="1225296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589519" y="3584448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CBI 지니계수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19" y="3822191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0.365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19" y="4279392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변동계수 65.5%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4754880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333488" y="4754880"/>
            <a:ext cx="68580" cy="1225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589519" y="4901184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군집 유형화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19" y="5138928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5개 유형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19" y="5596128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실루엣 계수 0.416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3488" y="6035040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쇠퇴단계는 순위가 아니라 여러 지표의 조합으로 나눕니다.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같은 '어려움'이라도 필요한 도움이 다릅니다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항목을 나눠 보니 원도심과 농촌면의 사정이 서로 달랐습니다. 원도심은 시설과 상권을 갖췄는데 사람이 빠지고, 농촌면은 전반이 부족합니다.</a:t>
            </a:r>
          </a:p>
        </p:txBody>
      </p:sp>
      <p:pic>
        <p:nvPicPr>
          <p:cNvPr id="5" name="Picture 4" descr="02_도메인_히트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168" y="2157984"/>
            <a:ext cx="3923239" cy="3200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653528" y="2157984"/>
            <a:ext cx="3840480" cy="1572768"/>
          </a:xfrm>
          <a:prstGeom prst="roundRect">
            <a:avLst>
              <a:gd name="adj" fmla="val 6000"/>
            </a:avLst>
          </a:prstGeom>
          <a:solidFill>
            <a:srgbClr val="EFF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891272" y="2359152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원도심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2670048"/>
            <a:ext cx="33832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생활SOC 61 · 상권여건 53 · 인구활력 38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→ 부족한 것은 시설이 아니라 사람입니다.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   새로 짓기보다 비어 있는 공간을 다시 쓰는 방향이 맞지 않을까 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53528" y="3858768"/>
            <a:ext cx="3840480" cy="1572768"/>
          </a:xfrm>
          <a:prstGeom prst="roundRect">
            <a:avLst>
              <a:gd name="adj" fmla="val 6000"/>
            </a:avLst>
          </a:prstGeom>
          <a:solidFill>
            <a:srgbClr val="F1E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891272" y="4059936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4A3AA7"/>
                </a:solidFill>
                <a:latin typeface="맑은 고딕"/>
                <a:ea typeface="맑은 고딕"/>
                <a:cs typeface="맑은 고딕"/>
              </a:rPr>
              <a:t>농촌면 · 읍지역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91272" y="4370832"/>
            <a:ext cx="33832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인구활력 16 · 생활SOC 8 · 상권여건 6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→ 특정 항목이 아니라 전반이 부족합니다.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   거점 복합시설과 이동 지원을 함께 보시면 좋겠습니다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5559552"/>
            <a:ext cx="10874959" cy="74980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74243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여러 동네를 한 묶음으로 보면 놓치기 쉬운 부분입니다. 유형을 나눠 보면 같은 예산으로도 각 동네에 조금 더 맞는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도움을 드릴 수 있지 않을까 합니다. 어떤 사업이 맞을지는 결국 현장을 아시는 분들의 판단이 필요한 부분입니다.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시간이 갈수록 서로 다른 방향으로 갈라집니다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권역유형별 인구 궤적이 갈수록 벌어집니다. 그냥 두어서 저절로 좁혀지지는 않는 흐름으로 보입니다.</a:t>
            </a:r>
          </a:p>
        </p:txBody>
      </p:sp>
      <p:pic>
        <p:nvPicPr>
          <p:cNvPr id="5" name="Picture 4" descr="03_격차추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0436" y="2286000"/>
            <a:ext cx="3590822" cy="3200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5303520"/>
            <a:ext cx="10874959" cy="859536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5431536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다만 '원도심이면 다 줄어든다'는 것은 아니었습니다.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5705856"/>
            <a:ext cx="105156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5년 인구증감률 상위는 풍세면(+158%), 문성동(+81%) — 두 곳 모두 신축 입주가 이어진 지역입니다.</a:t>
            </a:r>
          </a:p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비어 있던 공간이 다시 주거로 쓰이면 사람이 돌아온다는 뜻으로 읽었습니다.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미리 살펴보기 — 쇠퇴 조기경보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이미 어려워진 곳뿐 아니라, 앞으로 살펴보면 좋을 곳도 함께 짚어보려 만들었습니다.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2860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무엇을 살펴보나요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560320"/>
            <a:ext cx="5486400" cy="6021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t년 정보만으로 t+3년 상황을 미리 봅니다. 예산 편성에 1년, 사업 착수에 1~2년이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걸리는 점을 감안해 3년으로 잡았습니다.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294514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29451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모델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568834"/>
            <a:ext cx="5486400" cy="4014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LightGBM 회귀입니다. 표본이 많지 않아 규제를 강하게 걸고 얕은 트리를 썼습니다.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10231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10231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검증 — Leave-One-Zone-Out CV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376630"/>
            <a:ext cx="5486400" cy="6021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같은 생활권이 학습과 검증에 동시에 들어가지 않게 했습니다. 가까운 동네끼리는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닮아 있어 무작위로 나누면 성능이 실제보다 좋아 보이기 때문입니다.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110825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110825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이유까지 함께 — SHAP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5385145"/>
            <a:ext cx="5486400" cy="2007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동네마다 어떤 항목 때문에 그렇게 나왔는지 나눠서 보여드립니다.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30568" y="2331720"/>
            <a:ext cx="4709160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104888" y="25603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성능 (현재 데이터 기준)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04888" y="28895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검증 방식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25128" y="288950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Leave-One-Zone-Out CV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04888" y="32735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예측 목표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25128" y="327355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3년 후 위험도 변화량(Δ)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4888" y="36576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방향 적중률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25128" y="36576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66%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4888" y="4041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MAE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5128" y="404164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10.79 (베이스라인 10.4)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04888" y="442569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베이스라인 대비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25128" y="442569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-3.7%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4888" y="480974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R²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25128" y="480974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-0.135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30568" y="5138928"/>
            <a:ext cx="4709160" cy="877824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059168" y="5266944"/>
            <a:ext cx="429768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베이스라인은 '지금과 달라지지 않는다'는 예측입니다.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지금은 방향을 주로 맞히는 수준이고,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변화의 크기까지는 아직입니다(R²가 낮은 이유).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5779008"/>
            <a:ext cx="10874959" cy="56692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32688" y="5925312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데이터 상황에 따라 모드가 자동 전환된다 — 개·폐업 시계열이 확보되면 패널 예측(t→t+3)으로, 없으면 구조지표 횡단면 모드로 돌아간다.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예측 결과 — 다음 3년, 어디를 봐야 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대각선 위쪽에 있는 곳일수록, 지금보다 앞으로 더 살펴볼 필요가 크다는 뜻입니다.</a:t>
            </a:r>
          </a:p>
        </p:txBody>
      </p:sp>
      <p:pic>
        <p:nvPicPr>
          <p:cNvPr id="5" name="Picture 4" descr="04_조기경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2585" y="2139696"/>
            <a:ext cx="4535165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59168" y="2139696"/>
            <a:ext cx="4480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3년 뒤 위험 상위 6개 생활권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059168" y="2468880"/>
          <a:ext cx="4480556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59"/>
                <a:gridCol w="914399"/>
                <a:gridCol w="914399"/>
                <a:gridCol w="914399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생활권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현재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3년 후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변화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수신면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성남면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성환읍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입장면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원성동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059168" y="4590288"/>
            <a:ext cx="4480560" cy="1316736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296912" y="4773168"/>
            <a:ext cx="4023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 표를 어떻게 보면 되나요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96912" y="5047488"/>
            <a:ext cx="402336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· 숫자는 25개 생활권 중 몇 번째로 위험한지를 0~100으로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  나타낸 값입니다 (100이 가장 위험).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· '변화'가 클수록 지금보다 나빠질 것으로 본 곳입니다.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04-1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왜 그렇게 봤는지도 함께 보여드립니다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숫자만 있으면 '왜 이 동네인가'를 설명하기 어렵습니다. 어떤 항목이 결과를 끌어올렸는지 나눠서 보여드립니다.</a:t>
            </a:r>
          </a:p>
        </p:txBody>
      </p:sp>
      <p:pic>
        <p:nvPicPr>
          <p:cNvPr id="5" name="Picture 4" descr="05_SHAP_요인분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9862" y="2212848"/>
            <a:ext cx="6691969" cy="3200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5541264"/>
            <a:ext cx="10874959" cy="786384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5705856"/>
            <a:ext cx="1051560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왼쪽은 전체적으로 어떤 항목이 예측에 많이 쓰였는지, 오른쪽은 동네마다 어떤 항목이 위험을 끌어올렸는지입니다.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같은 '고위험'이라도 원인이 달라서, 필요한 도움도 서로 다를 수 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순서 정하기 — 생활SOC 우선순위 계산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예산을 얼마나 쓸지가 아니라, 한 곳을 놓는다면 어디가 가장 많은 분께 닿을지를 계산했습니다.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49424"/>
            <a:ext cx="5669280" cy="969264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2377440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MCLP — 최대커버링 입지문제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651760"/>
            <a:ext cx="5212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max  Σᵢ dᵢ·yᵢ      s.t.  yᵢ ≤ Σⱼ∈Nᵢ xⱼ,  Σⱼ xⱼ = 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907792"/>
            <a:ext cx="5212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정해진 개수 안에서 가장 많은 분께 닿는 자리를 고르는 계산입니다.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438144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438144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수요 — 한 사람을 똑같이 세지 않습니다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712463"/>
            <a:ext cx="5394960" cy="191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고령 비율이 높고 지수가 낮은 동네의 1명을 더 크게 셉니다.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056512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056512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도달 범위 — 반경 1.0km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330832"/>
            <a:ext cx="5394960" cy="191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걸어서 15분 거리입니다. 행정경계를 넘는 이용도 그대로 반영합니다.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67488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674880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후보지 — CBI 열위 · 고령비율 상위 격자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4949200"/>
            <a:ext cx="5394960" cy="191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빈집·노후 자료가 생활권 단위로 확보되면 그 지표로 자동 대체됩니다.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529324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529324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근거 — 탐욕해의 품질 보장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5567568"/>
            <a:ext cx="5394960" cy="191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 문제는 최적해의 63% 이상이 수학적으로 보장되는 형태입니다.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39128" y="2249424"/>
            <a:ext cx="4800600" cy="2670048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013448" y="2450592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형평성 제약을 넣은 이유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13448" y="2798064"/>
            <a:ext cx="429768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계산만 그대로 두면 효율이 가장 높은 한 동네에 전부 몰립니다. 수식으로는 맞지만 균형발전이라는 취지에는 맞지 않는다고 생각했습니다.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그래서 생활권당 최대 2개소로 제한했습니다. 총 효과는 조금 줄지만 여러 동네에 나누어 닿습니다.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 값은 조정 가능하니, 시 사정에 맞게 바꿔 쓰시면 됩니다.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39128" y="5047488"/>
            <a:ext cx="4800600" cy="969264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013448" y="523036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결과는 '순위 · 생활권 · 시설유형 · 새로 닿는 인구 · 개선폭'이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적힌 표 한 장입니다.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검토 자료로 참고하실 수 있으면 좋겠습니다.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처방 결과 — 투자 우선순위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상위 12개소 우선 투자 시 취약수요 커버리지 +40.2%p, 신규 수혜인구 약 204,062명.</a:t>
            </a:r>
          </a:p>
        </p:txBody>
      </p:sp>
      <p:pic>
        <p:nvPicPr>
          <p:cNvPr id="5" name="Picture 4" descr="07_투자입지_지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0496" y="2212848"/>
            <a:ext cx="3802062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79007" y="2212848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AI 추천 투자 순위 (상위 10)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79007" y="2560320"/>
          <a:ext cx="5760715" cy="33695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79"/>
                <a:gridCol w="1280159"/>
                <a:gridCol w="1097279"/>
                <a:gridCol w="1463039"/>
                <a:gridCol w="1280159"/>
              </a:tblGrid>
              <a:tr h="30632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순위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생활권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시설유형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수혜인구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커버리지 개선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봉명동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26,717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+5.69%p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봉명동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24,351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+5.11%p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일봉동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23,066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+4.86%p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일봉동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21,780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+4.62%p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원성동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18,133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+4.23%p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원성동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17,505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+3.89%p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중앙동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16,101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+2.97%p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중앙동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16,248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+2.51%p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성거읍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10,432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+1.83%p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성거읍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10,311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+1.62%p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어디서 멈춰도 근거가 남습니다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한계효용 곡선이 있으면 예산이 조정돼도 '몇 개소까지가 합리적인가'를 답할 수 있습니다.</a:t>
            </a:r>
          </a:p>
        </p:txBody>
      </p:sp>
      <p:pic>
        <p:nvPicPr>
          <p:cNvPr id="5" name="Picture 4" descr="08_커버리지_곡선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518" y="2212848"/>
            <a:ext cx="3505379" cy="3200400"/>
          </a:xfrm>
          <a:prstGeom prst="rect">
            <a:avLst/>
          </a:prstGeom>
        </p:spPr>
      </p:pic>
      <p:pic>
        <p:nvPicPr>
          <p:cNvPr id="6" name="Picture 5" descr="06_SOC_사각지대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1328" y="2212848"/>
            <a:ext cx="3933439" cy="32004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" y="5577840"/>
            <a:ext cx="10874959" cy="74980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57607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예산 심의에서 자주 나오는 질문은 '왜 이 순서인가'와 '반만 하면 어떻게 되나'입니다.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 곡선은 두 질문에 함께 답합니다. 좌측 그림의 좌상단(고령↑·SOC↓)이 먼저 살펴볼 구간입니다.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FOR WHOM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결국, 이런 분들께 닿았으면 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지수와 모델은 수단일 뿐입니다. 저희가 계속 떠올린 것은 아래 네 분의 하루였습니다.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원도심에 오래 사신 어르신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원성동은 인구가 5년 새 -11% 움직였고 고령 비율은 32%입니다.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시설은 가까이 있는데 함께 사시던 이웃이 줄어드는 동네입니다.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236207" y="2286000"/>
            <a:ext cx="68580" cy="1371600"/>
          </a:xfrm>
          <a:prstGeom prst="rect">
            <a:avLst/>
          </a:prstGeom>
          <a:solidFill>
            <a:srgbClr val="8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2240" y="246888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8A7FB5"/>
                </a:solidFill>
                <a:latin typeface="맑은 고딕"/>
                <a:ea typeface="맑은 고딕"/>
                <a:cs typeface="맑은 고딕"/>
              </a:rPr>
              <a:t>농촌면에서 아이 키우시는 부모님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83464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동면의 생활SOC 접근성 점수는 0점으로 가장 낮습니다.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어린이집·도서관이 가까이 없으면 그 부담은 온전히 가정의 몫이 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58368" y="3858768"/>
            <a:ext cx="68580" cy="13716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404164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원도심에서 가게를 지켜오신 상인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07407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오가는 분이 줄면 매출이 줄고, 문 닫는 가게가 늘면 오가는 분이 더 줍니다.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 고리를 일찍 알아차릴 수 있다면, 도움드릴 방법도 더 많아집니다.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7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236207" y="3858768"/>
            <a:ext cx="68580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92240" y="404164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신도심에서 자리 잡은 이웃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407407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지금 여건이 좋은 곳도 언젠가는 나이가 듭니다.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미리 살펴보는 습관은 결국 천안시민 모두를 위한 준비라고 생각합니다.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541264"/>
            <a:ext cx="10874959" cy="786384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724144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저희는 천안시 사정을 현장에서 겪어보지 못한 참가자입니다. 다만 공개된 데이터로 할 수 있는 만큼은 성실하게 살펴보았습니다.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부족한 부분은 현장을 아시는 분들이 채워주시길 바라며, 이 자료가 그 논의의 출발점이 될 수 있다면 더 바랄 것이 없겠습니다.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실무에 이렇게 보탬이 되면 좋겠습니다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따로 시간을 내어 다뤄야 하는 연구물이 아니라, 하시던 업무 곁에 놓고 참고하실 수 있는 자료로 준비했습니다.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4505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도시재생 담당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사업지 검토 · 공모 준비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54096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지수가 낮은 곳과 3년 뒤 살펴볼 곳을 겹쳐 후보를 좁히실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공모의 '쇠퇴도 진단' 항목에 근거 수치로.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7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36207" y="2286000"/>
            <a:ext cx="68580" cy="137160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92240" y="24505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복지·보건 담당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74320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생활시설 위치 검토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054096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우선순위표의 좌표를 검토 후보 중 하나로,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왜 그 동네인지 설명하실 때 항목별 근거로.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58368" y="3858768"/>
            <a:ext cx="68580" cy="13716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4023359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예산 담당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1596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배분 검토 자료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62686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몇 개소까지면 어느 정도 효과인지 곡선으로 비교하실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예산 조정이 필요할 때 판단의 참고로.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7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236207" y="3858768"/>
            <a:ext cx="68580" cy="137160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92240" y="4023359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4A3AA7"/>
                </a:solidFill>
                <a:latin typeface="맑은 고딕"/>
                <a:ea typeface="맑은 고딕"/>
                <a:cs typeface="맑은 고딕"/>
              </a:rPr>
              <a:t>기획·평가 담당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31596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시행 이후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62686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이듬해 같은 스크립트로 지수 변화를 이어 보실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하신 사업이 수치로도 나아졌는지 확인하실 때.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41264"/>
            <a:ext cx="10874959" cy="786384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705856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쓰시는 방법 — 연 1회 공공데이터를 새로 받아 스크립트를 실행하시면 모든 자료가 다시 만들어집니다.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별도 시스템이나 데이터 구매 없이, 담당자 한 분이 반나절이면 그 해 자료를 준비하실 수 있습니다.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기대효과와 실행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084831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기대효과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468880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77824" y="2468880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시민께 닿는 범위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7432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효과가 큰 곳부터 살펴보면, 같은 예산으로도 더 많은 분께 닿을 수 있습니다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218688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77824" y="321868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살펴보는 시점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49300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어려워진 뒤가 아니라, 3년 앞을 미리 짚어볼 수 있습니다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68496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77824" y="3968496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설명하실 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242816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판단 근거를 항목별 수치로 정리해 드려 설명 부담을 조금 덜어드립니다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718304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77824" y="4718304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드는 비용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99262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데이터 구매나 시스템 없이, 스크립트 재실행만으로 매년 갱신됩니다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528" y="2084831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실행 로드맵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10528" y="2468880"/>
            <a:ext cx="68580" cy="56692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729983" y="2468880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1단계 · 즉시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9983" y="27432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본 스크립트로 천안시 25개 생활권 기준선 진단 확정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10528" y="3218688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29983" y="3218688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2단계 · 3개월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9983" y="349300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천안시 내부 행정데이터(인허가 원장·건축물대장·복지수급) 연계로 지표 정밀화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10528" y="3968496"/>
            <a:ext cx="68580" cy="56692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729983" y="3968496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3단계 · 6개월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9983" y="4242816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500m 격자 단위로 공간해상도 상향 — 표본 확대로 예측모델 성능 개선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10528" y="4718304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729983" y="4718304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4단계 · 1년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9983" y="4992624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천안시 행정포털 대시보드 내재화, 연 1회 자동 갱신 체계 정착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504688"/>
            <a:ext cx="10874959" cy="82296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32688" y="5687568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다른 지역에도 — 공간단위 정의(config.py)만 바꾸면 아산·청주 등에도 같은 방식으로 쓸 수 있습니다.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원도심 공동화는 천안만의 일이 아니어서, 도움이 된다면 충남 시군이 함께 쓰는 자료가 되어도 좋겠습니다.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LIMITATION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저희가 아직 못 한 부분을 먼저 말씀드립니다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행정에 쓰이는 자료인 만큼, 어디까지 믿고 쓰실 수 있는지 분명히 알려드리는 것이 도리라고 생각했습니다.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2414016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예측 성능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72968" y="2414016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3년 뒤 악화·개선 '방향'은 어느 정도 맞히지만, 변화의 '크기'까지는 아직 부족합니다.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2968" y="2706624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→ 위험도 수준은 자기상관이 강해 '그대로 간다'는 예측이 이미 강력한 기준선입니다. 현재는 인구 축만 실데이터라, 상권 개·폐업 시계열이 더해지면 나아질 것으로 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310128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58368" y="3310128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38144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표본 크기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72968" y="3438144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분석 단위가 25개 생활권이라 머신러닝 표본으로는 작습니다.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72968" y="3730752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→ 500m 격자 단위로 내리면 표본이 수천 개로 늘어납니다. 지금은 규제를 강하게 걸고 Leave-One-Zone-Out CV와 베이스라인 비교로 과적합 여부를 확인하고 있습니다.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334256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58368" y="4334256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6227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공간 해상도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2968" y="4462272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생활권 안쪽의 차이(같은 동 안의 편차)는 잡히지 않습니다.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72968" y="4754880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→ 집계구·격자 데이터로 바꾸면 해결됩니다. 공간단위 정의만 교체하면 되도록 만들어 두었습니다.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358384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58368" y="5358384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48640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인과 아닌 상관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72968" y="54864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 모델은 변화를 미리 살펴볼 뿐, 사업의 효과를 증명하지는 못합니다.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72968" y="5779008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→ 시행 전후 이중차분(DID) 설계를 덧붙이면 효과 검증까지 넓힐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 문서에 나오는 말 풀이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전문용어를 쓰지 않고는 방법을 설명하기 어려워 몇 개를 썼습니다. 뜻을 한 줄씩 적어 둡니다.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231136"/>
            <a:ext cx="54864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231136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CBI 균형발전지수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505456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여러 지표를 0~100점 하나로 합친 값. 높을수록 생활 여건이 나은 편입니다.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035808"/>
            <a:ext cx="54864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59536" y="3035808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엔트로피 가중법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310127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어떤 지표를 얼마나 중요하게 볼지 사람이 정하지 않고, 동네 간 차이를 잘 드러내는 지표에 자동으로 더 큰 무게를 주는 방법입니다.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840480"/>
            <a:ext cx="54864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59536" y="3840480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중력모형 접근성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4114800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시설이 멀수록 이용이 줄어든다고 보고 거리에 따라 점수를 매깁니다. 옆 동네 시설도 걸어갈 수 있으면 함께 셉니다.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645152"/>
            <a:ext cx="54864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59536" y="4645152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K-means 군집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4919472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비슷한 특성을 가진 동네끼리 자동으로 묶는 방법입니다.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5449824"/>
            <a:ext cx="54864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59536" y="5449824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윈저화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5724144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유난히 튀는 값 하나가 전체를 흔들지 않도록 위아래 5%를 경계값으로 눌러 주는 처리입니다.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6207" y="2231136"/>
            <a:ext cx="54864" cy="65836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437375" y="2231136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LightGBM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37375" y="2505456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여러 지표를 조합해 결과를 예측하는 기계학습 모형 중 하나입니다.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36207" y="3035808"/>
            <a:ext cx="54864" cy="65836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437375" y="3035808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Leave-One-Zone-Out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5" y="3310127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한 동네를 빼고 학습한 뒤 그 동네를 맞혀 봅니다. 처음 보는 동네에도 통하는지 확인하려는 검증 방식입니다.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6207" y="3840480"/>
            <a:ext cx="54864" cy="65836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437375" y="3840480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SHAP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37375" y="4114800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모형이 왜 그렇게 예측했는지, 어떤 항목이 얼마나 영향을 줬는지 나눠서 보여 주는 기법입니다.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36207" y="4645152"/>
            <a:ext cx="54864" cy="65836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7375" y="4645152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MCLP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37375" y="4919472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정해진 개수만 지을 수 있을 때 가장 많은 분께 닿는 자리를 고르는 문제입니다.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6207" y="5449824"/>
            <a:ext cx="54864" cy="65836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437375" y="5449824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지니계수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37375" y="5724144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값이 얼마나 고르게 퍼져 있는지 재는 수치입니다. 0에 가까우면 고르고, 1에 가까우면 한쪽에 쏠려 있다는 뜻입니다.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INTEGRITY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재현성과 데이터 윤리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121408"/>
            <a:ext cx="5257800" cy="24871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58368" y="2121408"/>
            <a:ext cx="5257800" cy="6858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34086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재현성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743200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74320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공개 스크립트 한 줄(python3 src/run_all.py)로 전 과정을 재현합니다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218688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321868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난수 시드를 고정해 군집·모델 결과가 실행할 때마다 같습니다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694176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69417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그림 8종·분석표 9종·대시보드가 같은 실행에서 함께 만들어집니다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169664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416966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지표 정의·가중치·모델 설정이 전부 코드에 적혀 있습니다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7" y="2121408"/>
            <a:ext cx="5257800" cy="24871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236207" y="2121408"/>
            <a:ext cx="525780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10527" y="234086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데이터 윤리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7" y="2743200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11696" y="274320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정식 공공데이터 포털에서 내려받은 파일만 썼습니다 (크롤링 없음)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7" y="3218688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11696" y="321868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상업 목적 민간데이터를 무단으로 쓰지 않았습니다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0527" y="3694176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11696" y="369417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모든 지표가 생활권 단위 집계값이라 개인식별정보를 다루지 않습니다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0527" y="4169664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11696" y="416966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출처·수집시점·컬럼을 분석표에 자동으로 기록합니다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718304"/>
            <a:ext cx="10874959" cy="1225296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50976" y="4882896"/>
            <a:ext cx="104241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확보한 데이터만으로 산출합니다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" y="517550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확보하지 못한 지표는 임의값이나 예시 값으로 채우지 않고 지수에서 제외합니다.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매 실행마다 지표별 상태를 판정해 로그·대시보드·기획서에 함께 표기하므로, 이 문서의 어떤 수치도 채워 넣은 값이 아닙니다.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" y="5669280"/>
            <a:ext cx="10424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현재 상태 — 실데이터 지표군 4/5  ·  이동성은 미확보로 지수에서 제외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