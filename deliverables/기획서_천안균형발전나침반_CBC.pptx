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FB3EE"/>
                </a:solidFill>
                <a:latin typeface="맑은 고딕"/>
                <a:ea typeface="맑은 고딕"/>
                <a:cs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894A6"/>
                </a:solidFill>
                <a:latin typeface="맑은 고딕"/>
                <a:ea typeface="맑은 고딕"/>
                <a:cs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AEEF4"/>
                </a:solidFill>
                <a:latin typeface="맑은 고딕"/>
                <a:ea typeface="맑은 고딕"/>
                <a:cs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  <a:ea typeface="맑은 고딕"/>
                <a:cs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25개 생활권 · 지표 9종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  <a:ea typeface="맑은 고딕"/>
                <a:cs typeface="맑은 고딕"/>
              </a:rPr>
              <a:t>다시봄 · 팀원 이름을 적어주세요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FAB219"/>
                </a:solidFill>
                <a:latin typeface="맑은 고딕"/>
                <a:ea typeface="맑은 고딕"/>
                <a:cs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1.82배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57.0 vs 원도심 31.3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조기경보 방향 적중률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 MAE +3.0%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188,907명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12개소 · 커버리지 +28.6%p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1.82배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평균 CBI 57.0 vs 원도심 평균 31.3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0.204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25개 생활권 CBI 지니계수 — 변동계수 36.8%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부성동 ↔ 목천읍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59점 ↔ 최하위 18점,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14개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여러 지표가 함께 낮은 '쇠퇴'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79806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79806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변화는 서서히,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72384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상권이 비면 오가는 분이 줄고, 그래서 더 비는 흐름이 생깁니다.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67362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67362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947942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통계가 뚜렷해졌을 때는 이미 많이 진행된 뒤인 경우가 많습니다.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5491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549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천안시는 이런 관찰에 좋은 조건입니다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823500"/>
            <a:ext cx="4206240" cy="420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신도심·기성시가지·원도심·읍·농촌면이 한 시(市) 안에 모두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25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  <a:ea typeface="맑은 고딕"/>
                <a:cs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21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2021~2026년(5년환산),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소상공인 상가(상권)정보(data.go.kr)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13,045건 매칭 / 25개 생활권 · 개폐업 시계열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공공데이터포털 표준데이터 + 상가정보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facility_daycare.csv(239) / facility_hospital.csv(366) / facility_park.csv(133) / 상가정보(490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KOSIS 미거주주택(빈집)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자치구 단위(동남구 9.4%, 서북구 6.1%) → 구에 속한 생활권에 동일 적용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정류소 위치/주소가 담긴 파일이 필요합니다(노선 현황만으로는 불가)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성정동, 쌍용동, 신안동,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입장면, 풍세면, 수신면, 동면, 성남면, 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부성동, 백석동, 불당동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문성동, 중앙동, 봉명동, 일봉동,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성거읍, 직산읍, 성환읍, 목천읍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5대 도메인 · 9개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살펴본 결과 — 25개 생활권 CBI 균형발전지수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최상위 부성동 59점, 최하위 목천읍 18점. (4개 도메인 · 9개 지표)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447" y="2084831"/>
            <a:ext cx="4186641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1.82배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57.0 vs 31.3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0.204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변동계수 36.8%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실루엣 계수 0.459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80" y="2157984"/>
            <a:ext cx="4554415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EFF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1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436" y="2286000"/>
            <a:ext cx="359082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486400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650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다만 '원도심이면 다 줄어든다'는 것은 아니었습니다.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5년 인구증감률 상위는 11(+158%), 4(+81%)으로, 두 곳 모두 신축 입주가 이어진 지역입니다. 원도심에 속한 문성동도 사람이 돌아왔습니다.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비어 있던 공간이 다시 주거로 쓰이면 인구가 회복될 수 있다는 뜻으로 읽었고, 뒤에서 말씀드릴 빈집 활용 제안의 근거가 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8895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895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273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예측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2735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후 위험도 변화량(Δ)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방향 적중률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6576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72%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041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10.09 (베이스라인 10.4)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4256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4256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+3.0%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48097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R²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5128" y="4809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-0.13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5193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베이스라인은 '지금과 달라지지 않는다(Δ=0)'는 예측입니다.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지금은 방향을 주로 맞히는 수준이며, 변화의 크기까지는 아직입니다(R²가 낮은 이유).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대각선 위쪽은 현재보다 위험이 더 올라갈 것으로 예측된 생활권이다.</a:t>
            </a:r>
          </a:p>
        </p:txBody>
      </p:sp>
      <p:pic>
        <p:nvPicPr>
          <p:cNvPr id="5" name="Picture 4" descr="04_조기경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73" y="2103120"/>
            <a:ext cx="4483629" cy="3977639"/>
          </a:xfrm>
          <a:prstGeom prst="rect">
            <a:avLst/>
          </a:prstGeom>
        </p:spPr>
      </p:pic>
      <p:pic>
        <p:nvPicPr>
          <p:cNvPr id="6" name="Picture 5" descr="05_SHAP_요인분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146" y="2103120"/>
            <a:ext cx="548132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1888" y="4956048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위험 상위 5개 생활권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61888" y="5248656"/>
          <a:ext cx="5577837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732"/>
                <a:gridCol w="1154035"/>
                <a:gridCol w="1154035"/>
                <a:gridCol w="1154035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상위 12개소 우선 투자 시 취약수요 커버리지 +28.6%p, 신규 수혜인구 약 188,907명.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96" y="2212848"/>
            <a:ext cx="380206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32,728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+5.03%p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봉명동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24,351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+4.09%p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+3.5%p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18,133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+3.06%p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20,430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+2.63%p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일봉동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16,940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+2.41%p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청룡동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17,179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+2.0%p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+1.79%p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14,900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+1.78%p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신안동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215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+0.99%p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어디서 멈춰도 근거가 남습니다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한계효용 곡선이 있으면 예산이 조정돼도 '몇 개소까지가 합리적인가'를 답할 수 있습니다.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518" y="2212848"/>
            <a:ext cx="3505379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328" y="2212848"/>
            <a:ext cx="3933439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예산 심의에서 자주 나오는 질문은 '왜 이 순서인가'와 '반만 하면 어떻게 되나'입니다.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곡선은 두 질문에 함께 답합니다. 좌측 그림의 좌상단(고령↑·SOC↓)이 먼저 살펴볼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  <a:ea typeface="맑은 고딕"/>
                <a:cs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고령 비율이 가장 높은 곳은 14으로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4A3AA7"/>
                </a:solidFill>
                <a:latin typeface="맑은 고딕"/>
                <a:ea typeface="맑은 고딕"/>
                <a:cs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EF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예측 성능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3년 뒤 악화·개선 '방향'은 어느 정도 맞히지만, 변화의 '크기'까지는 아직 부족합니다.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위험도 수준은 자기상관이 강해 '그대로 간다'는 예측이 이미 강력한 기준선입니다. 현재는 인구 축만 실데이터라, 상권 개·폐업 시계열이 더해지면 나아질 것으로 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표본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분석 단위가 25개 생활권이라 머신러닝 표본으로는 작습니다.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500m 격자 단위로 내리면 표본이 수천 개로 늘어납니다. 지금은 규제를 강하게 걸고 Leave-One-Zone-Out CV와 베이스라인 비교로 과적합 여부를 확인하고 있습니다.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공간 해상도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생활권 안쪽의 차이(같은 동 안의 편차)는 잡히지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집계구·격자 데이터로 바꾸면 해결됩니다. 공간단위 정의만 교체하면 되도록 만들어 두었습니다.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EDA100"/>
                </a:solidFill>
                <a:latin typeface="맑은 고딕"/>
                <a:ea typeface="맑은 고딕"/>
                <a:cs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이 모델은 변화를 미리 살펴볼 뿐, 사업의 효과를 증명하지는 못합니다.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→ 시행 전후 이중차분(DID) 설계를 덧붙이면 효과 검증까지 넓힐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AF7A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A78D6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2151A"/>
                </a:solidFill>
                <a:latin typeface="맑은 고딕"/>
                <a:ea typeface="맑은 고딕"/>
                <a:cs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03B3B"/>
                </a:solidFill>
                <a:latin typeface="맑은 고딕"/>
                <a:ea typeface="맑은 고딕"/>
                <a:cs typeface="맑은 고딕"/>
              </a:rPr>
              <a:t>현재 상태: 실데이터 지표 4/5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2514E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